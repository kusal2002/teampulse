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761"/>
                </a:solidFill>
                <a:latin typeface="Calibri"/>
              </a:defRPr>
            </a:pPr>
            <a:r>
              <a:rPr sz="1300" b="0" i="0" u="none" strike="noStrike">
                <a:solidFill>
                  <a:srgbClr val="1E2761"/>
                </a:solidFill>
                <a:latin typeface="Calibri"/>
              </a:rPr>
              <a:t>Report status distribution (seeded data)</a:t>
            </a:r>
          </a:p>
        </c:rich>
      </c:tx>
      <c:layout/>
      <c:overlay val="0"/>
    </c:title>
    <c:autoTitleDeleted val="0"/>
    <c:plotArea>
      <c:layout/>
      <c:doughnutChart>
        <c:varyColors val="1"/>
        <c:ser>
          <c:idx val="0"/>
          <c:order val="0"/>
          <c:tx>
            <c:strRef>
              <c:f>Sheet1!$B$1</c:f>
              <c:strCache>
                <c:ptCount val="1"/>
                <c:pt idx="0">
                  <c:v>Reports by status</c:v>
                </c:pt>
              </c:strCache>
            </c:strRef>
          </c:tx>
          <c:spPr>
            <a:solidFill>
              <a:schemeClr val="accent1"/>
            </a:solidFill>
            <a:ln w="9525" cap="flat">
              <a:solidFill>
                <a:srgbClr val="F9F9F9"/>
              </a:solidFill>
              <a:prstDash val="solid"/>
              <a:round/>
            </a:ln>
            <a:effectLst/>
          </c:spPr>
          <c:dPt>
            <c:idx val="0"/>
            <c:bubble3D val="0"/>
            <c:spPr>
              <a:solidFill>
                <a:srgbClr val="1F7A5A"/>
              </a:solidFill>
              <a:effectLst/>
            </c:spPr>
          </c:dPt>
          <c:dPt>
            <c:idx val="1"/>
            <c:bubble3D val="0"/>
            <c:spPr>
              <a:solidFill>
                <a:srgbClr val="1E2761"/>
              </a:solidFill>
              <a:effectLst/>
            </c:spPr>
          </c:dPt>
          <c:dPt>
            <c:idx val="2"/>
            <c:bubble3D val="0"/>
            <c:spPr>
              <a:solidFill>
                <a:srgbClr val="7A82A3"/>
              </a:solidFill>
              <a:effectLst/>
            </c:spPr>
          </c:dPt>
          <c:dPt>
            <c:idx val="3"/>
            <c:bubble3D val="0"/>
            <c:spPr>
              <a:solidFill>
                <a:srgbClr val="B4741C"/>
              </a:solidFill>
              <a:effectLst/>
            </c:spPr>
          </c:dPt>
          <c:dLbls>
            <c:dLbl>
              <c:idx val="0"/>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12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Approved</c:v>
                </c:pt>
                <c:pt idx="1">
                  <c:v>Submitted</c:v>
                </c:pt>
                <c:pt idx="2">
                  <c:v>Draft</c:v>
                </c:pt>
                <c:pt idx="3">
                  <c:v>Needs Correction</c:v>
                </c:pt>
              </c:strCache>
            </c:strRef>
          </c:cat>
          <c:val>
            <c:numRef>
              <c:f>Sheet1!$B$2:$B$5</c:f>
              <c:numCache>
                <c:ptCount val="4"/>
                <c:pt idx="0">
                  <c:v>8</c:v>
                </c:pt>
                <c:pt idx="1">
                  <c:v>4</c:v>
                </c:pt>
                <c:pt idx="2">
                  <c:v>3</c:v>
                </c:pt>
                <c:pt idx="3">
                  <c:v>2</c:v>
                </c:pt>
              </c:numCache>
            </c:numRef>
          </c:val>
        </c:ser>
        <c:firstSliceAng val="0"/>
        <c:holeSize val="52"/>
      </c:doughnutChart>
      <c:spPr>
        <a:noFill/>
        <a:ln>
          <a:noFill/>
        </a:ln>
        <a:effectLst/>
      </c:spPr>
    </c:plotArea>
    <c:legend>
      <c:legendPos val="b"/>
      <c:overlay val="0"/>
      <c:txPr>
        <a:bodyPr/>
        <a:lstStyle/>
        <a:p>
          <a:pPr>
            <a:defRPr sz="1100">
              <a:solidFill>
                <a:srgbClr val="3F4665"/>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TeamPulse is a full-stack internal tool. Team members file a fixed-structure weekly report; managers review it, approve it or send it back for correction, and analyse the whole team on a dashboard. I'll walk through the architecture, the database design, how I implemented the review cycle, the AI assistant, and what I'd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is that weekly updates are inconsistent and unreviewable. Two roles fall out of that: the member who writes, and the manager who reviews and analyses. My four design goals drove most of the technical decisions you'll see - especially the fixed structure and the version history requirement, which is what shaped the database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NestJS mainly for its guard system - role checks become one decorator on a route rather than repeated logic in every handler. Prisma with Postgres because the report/version/comment relationship is genuinely relational and I wanted the database to enforce invariants. On the frontend, TanStack Query removed almost all of my manual refetch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carries a JWT attached by an axios interceptor. It hits the global guards before any controller code runs - that's the important part: authorization is deny-by-default, so forgetting a decorator fails closed rather than open. Controllers stay thin; all business rules live in services, which is also what makes them straightforward to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models. The identity side is ordinary. The interesting half is the report side, which I've split into a Report row that holds identity and status, and ReportVersion rows that hold content. One detail I'd point to: the composite unique constraint. I wanted the one-report-per-week rule to be a database invariant, not just an if-statement that two concurrent requests could both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I'd most want to defend. The naive schema is one report row that you update in place - but then the version-history requirement is impossible, because each edit destroys the evidence. By separating identity from content snapshots, history stops being a feature I maintain and becomes a property of the schema. The comment carrying both IDs is what lets a manager see feedback anchored to the exact version it was written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call out why one layer isn't enough. Route guards answer 'is this role allowed on this endpoint'. They don't answer 'does this row belong to this caller'. Two team members both legitimately call GET /reports/:id - so without the ownership check, either could read the other's report just by changing the ID. The assignment calls that out explicitly, and it's the check I made sure to unit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surface is deliberately small. Note the two report read paths: members hit GET /reports/:id which enforces ownership, managers hit GET /reports/manager/:id which bypasses it but is role-guarded. The manager list endpoint takes four optional filters, which is what the dashboard and Team Reports page use. Managers can only change status and comment - there is deliberately no endpoint that lets a manager rewrite a member's report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assignment, so I'll spend a moment here. The state machine is four states with one loop - a report can bounce between Needs Correction and Submitted as many times as needed. The implementation detail I'd highlight is the branch in updateReport. Editing a draft and editing after feedback look identical from the UI, but they must behave differently in the database: draft edits are churn and shouldn't create versions, whereas a correction must preserve what came before. And the review action is transactional, because a report sitting in Needs Correction with no comment attached would be a dead end for the 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Folder structure follows role and responsibility. The point I'd make about ProtectedRoute is that it's a UX affordance, not a security boundary - every rule it expresses is independently enforced by the API. On state: I deliberately avoided keeping server data in component state, so there's a single source of truth and cache invalidation handles refreshes after mutations.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asks for clear separation between the personal page, history and the dashboard, so those are three distinct surfaces rather than tabs on one screen. The reusability example I'd give is ReportDetailPage: rather than writing a member view and a manager view, it's one read-only component that swaps its data source by role and adds the review panel for managers. That also means the version history I built for managers came free for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opens on the numbers a manager acts on: what's waiting for review and what's been sent back. These figures come from the seed script, so the dashboard is meaningful on a fresh clone rather than empty. I'll be straight about scope here: I have status distribution and per-project volume charted. The trend-over-time and time-by-task-type charts need an aggregation endpoint that returns version-level data, which is the first item on my improvements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treated this as a retrieval problem rather than a model problem. The service builds a context block from live database rows and injects it as a system message, keeping the user's question in a separate role so prompt injection can't trivially override the instructions. Two things I'd point out: the fallback path means the widget still returns something useful with no API key, which matters for a demo. And on privacy - I only send what the asking manager is already authorised to see, but I'd flag honestly that this is third-party data egress and production would need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strongly recommends at least one automated test covering role-based access, so that's the one I made sure existed and named clearly. Everything is mocked at the Prisma boundary, which keeps the suite fast and independent of a live database. The seed script matters more than it looks - without it the dashboard is empty on a fresh clone and none of the analytics or version-history work is visible to whoever is reviewing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decisions I actually had to think about. The concurrency one and the transaction one are both cases where the obvious implementation looks correct in manual testing and fails under real use - I'd rather push an invariant into the database than rely on a check-then-act sequence in application code. The privilege escalation one is the security bug I was most worried about, which is why it has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I'd do next, in priority order. The analytics endpoint is first because it's the one place the current dashboard is thinner than I'd like - the data is all in the database, it just needs aggregating server-side rather than shipping every version to the browser. On deployment I'd rather be accurate than impressive: I attempted Wasmer Edge, and its Node runtime is beta enough that even a bare HTTP server didn't boot, so I'd move to a container host. Happy to go deeper on any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1874520"/>
            <a:ext cx="749808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TeamPulse</a:t>
            </a:r>
            <a:endParaRPr lang="en-US" sz="6000" dirty="0"/>
          </a:p>
        </p:txBody>
      </p:sp>
      <p:sp>
        <p:nvSpPr>
          <p:cNvPr id="3" name="Text 1"/>
          <p:cNvSpPr txBox="1"/>
          <p:nvPr/>
        </p:nvSpPr>
        <p:spPr>
          <a:xfrm>
            <a:off x="640080" y="2880360"/>
            <a:ext cx="7498080" cy="502920"/>
          </a:xfrm>
          <a:prstGeom prst="rect">
            <a:avLst/>
          </a:prstGeom>
          <a:noFill/>
          <a:ln/>
        </p:spPr>
        <p:txBody>
          <a:bodyPr wrap="square" lIns="0" tIns="0" rIns="0" bIns="0" rtlCol="0" anchor="ctr"/>
          <a:lstStyle/>
          <a:p>
            <a:pPr indent="0" marL="0">
              <a:buNone/>
            </a:pPr>
            <a:r>
              <a:rPr lang="en-US" sz="2200" dirty="0">
                <a:solidFill>
                  <a:srgbClr val="CADCFC"/>
                </a:solidFill>
                <a:latin typeface="Cambria" pitchFamily="34" charset="0"/>
                <a:ea typeface="Cambria" pitchFamily="34" charset="-122"/>
                <a:cs typeface="Cambria" pitchFamily="34" charset="-120"/>
              </a:rPr>
              <a:t>Weekly Report Generator &amp; Team Dashboard</a:t>
            </a:r>
            <a:endParaRPr lang="en-US" sz="2200" dirty="0"/>
          </a:p>
        </p:txBody>
      </p:sp>
      <p:sp>
        <p:nvSpPr>
          <p:cNvPr id="4" name="Text 2"/>
          <p:cNvSpPr txBox="1"/>
          <p:nvPr/>
        </p:nvSpPr>
        <p:spPr>
          <a:xfrm>
            <a:off x="640080" y="3493008"/>
            <a:ext cx="7315200" cy="731520"/>
          </a:xfrm>
          <a:prstGeom prst="rect">
            <a:avLst/>
          </a:prstGeom>
          <a:noFill/>
          <a:ln/>
        </p:spPr>
        <p:txBody>
          <a:bodyPr wrap="square" lIns="0" tIns="0" rIns="0" bIns="0" rtlCol="0" anchor="ctr"/>
          <a:lstStyle/>
          <a:p>
            <a:pPr indent="0" marL="0">
              <a:lnSpc>
                <a:spcPct val="120000"/>
              </a:lnSpc>
              <a:buNone/>
            </a:pPr>
            <a:r>
              <a:rPr lang="en-US" sz="1400" dirty="0">
                <a:solidFill>
                  <a:srgbClr val="9FB0DE"/>
                </a:solidFill>
                <a:latin typeface="Calibri" pitchFamily="34" charset="0"/>
                <a:ea typeface="Calibri" pitchFamily="34" charset="-122"/>
                <a:cs typeface="Calibri" pitchFamily="34" charset="-120"/>
              </a:rPr>
              <a:t>A full-stack internal tool for structured weekly reporting, manager review cycles, and team analytics.</a:t>
            </a:r>
            <a:endParaRPr lang="en-US" sz="1400" dirty="0"/>
          </a:p>
        </p:txBody>
      </p:sp>
      <p:sp>
        <p:nvSpPr>
          <p:cNvPr id="5" name="Text 3"/>
          <p:cNvSpPr txBox="1"/>
          <p:nvPr/>
        </p:nvSpPr>
        <p:spPr>
          <a:xfrm>
            <a:off x="640080" y="5212080"/>
            <a:ext cx="54864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Kusal Salpura</a:t>
            </a:r>
            <a:endParaRPr lang="en-US" sz="1500" dirty="0"/>
          </a:p>
        </p:txBody>
      </p:sp>
      <p:sp>
        <p:nvSpPr>
          <p:cNvPr id="6" name="Text 4"/>
          <p:cNvSpPr txBox="1"/>
          <p:nvPr/>
        </p:nvSpPr>
        <p:spPr>
          <a:xfrm>
            <a:off x="640080" y="5541264"/>
            <a:ext cx="5486400" cy="320040"/>
          </a:xfrm>
          <a:prstGeom prst="rect">
            <a:avLst/>
          </a:prstGeom>
          <a:noFill/>
          <a:ln/>
        </p:spPr>
        <p:txBody>
          <a:bodyPr wrap="square" lIns="0" tIns="0" rIns="0" bIns="0" rtlCol="0" anchor="ctr"/>
          <a:lstStyle/>
          <a:p>
            <a:pPr indent="0" marL="0">
              <a:buNone/>
            </a:pPr>
            <a:r>
              <a:rPr lang="en-US" sz="1250" dirty="0">
                <a:solidFill>
                  <a:srgbClr val="7A82A3"/>
                </a:solidFill>
                <a:latin typeface="Calibri" pitchFamily="34" charset="0"/>
                <a:ea typeface="Calibri" pitchFamily="34" charset="-122"/>
                <a:cs typeface="Calibri" pitchFamily="34" charset="-120"/>
              </a:rPr>
              <a:t>Technical Assignment  |  Software Engineering</a:t>
            </a:r>
            <a:endParaRPr lang="en-US" sz="1250" dirty="0"/>
          </a:p>
        </p:txBody>
      </p:sp>
      <p:sp>
        <p:nvSpPr>
          <p:cNvPr id="7" name="Shape 5"/>
          <p:cNvSpPr/>
          <p:nvPr/>
        </p:nvSpPr>
        <p:spPr>
          <a:xfrm>
            <a:off x="8549640" y="2011680"/>
            <a:ext cx="2468880" cy="512064"/>
          </a:xfrm>
          <a:prstGeom prst="roundRect">
            <a:avLst>
              <a:gd name="adj" fmla="val 17857"/>
            </a:avLst>
          </a:prstGeom>
          <a:solidFill>
            <a:srgbClr val="141A45"/>
          </a:solidFill>
          <a:ln w="12700">
            <a:solidFill>
              <a:srgbClr val="34407A"/>
            </a:solidFill>
            <a:prstDash val="solid"/>
          </a:ln>
        </p:spPr>
      </p:sp>
      <p:sp>
        <p:nvSpPr>
          <p:cNvPr id="8" name="Text 6"/>
          <p:cNvSpPr txBox="1"/>
          <p:nvPr/>
        </p:nvSpPr>
        <p:spPr>
          <a:xfrm>
            <a:off x="8549640" y="2011680"/>
            <a:ext cx="2468880" cy="512064"/>
          </a:xfrm>
          <a:prstGeom prst="rect">
            <a:avLst/>
          </a:prstGeom>
          <a:noFill/>
          <a:ln/>
        </p:spPr>
        <p:txBody>
          <a:bodyPr wrap="square" lIns="0" tIns="0" rIns="0" bIns="0" rtlCol="0" anchor="ctr"/>
          <a:lstStyle/>
          <a:p>
            <a:pPr algn="ctr" indent="0" marL="0">
              <a:buNone/>
            </a:pPr>
            <a:r>
              <a:rPr lang="en-US" sz="1400" b="1" dirty="0">
                <a:solidFill>
                  <a:srgbClr val="CADCFC"/>
                </a:solidFill>
                <a:latin typeface="Calibri" pitchFamily="34" charset="0"/>
                <a:ea typeface="Calibri" pitchFamily="34" charset="-122"/>
                <a:cs typeface="Calibri" pitchFamily="34" charset="-120"/>
              </a:rPr>
              <a:t>NestJS</a:t>
            </a:r>
            <a:endParaRPr lang="en-US" sz="1400" dirty="0"/>
          </a:p>
        </p:txBody>
      </p:sp>
      <p:sp>
        <p:nvSpPr>
          <p:cNvPr id="9" name="Shape 7"/>
          <p:cNvSpPr/>
          <p:nvPr/>
        </p:nvSpPr>
        <p:spPr>
          <a:xfrm>
            <a:off x="8549640" y="2670048"/>
            <a:ext cx="2468880" cy="512064"/>
          </a:xfrm>
          <a:prstGeom prst="roundRect">
            <a:avLst>
              <a:gd name="adj" fmla="val 17857"/>
            </a:avLst>
          </a:prstGeom>
          <a:solidFill>
            <a:srgbClr val="141A45"/>
          </a:solidFill>
          <a:ln w="12700">
            <a:solidFill>
              <a:srgbClr val="34407A"/>
            </a:solidFill>
            <a:prstDash val="solid"/>
          </a:ln>
        </p:spPr>
      </p:sp>
      <p:sp>
        <p:nvSpPr>
          <p:cNvPr id="10" name="Text 8"/>
          <p:cNvSpPr txBox="1"/>
          <p:nvPr/>
        </p:nvSpPr>
        <p:spPr>
          <a:xfrm>
            <a:off x="8549640" y="2670048"/>
            <a:ext cx="2468880" cy="512064"/>
          </a:xfrm>
          <a:prstGeom prst="rect">
            <a:avLst/>
          </a:prstGeom>
          <a:noFill/>
          <a:ln/>
        </p:spPr>
        <p:txBody>
          <a:bodyPr wrap="square" lIns="0" tIns="0" rIns="0" bIns="0" rtlCol="0" anchor="ctr"/>
          <a:lstStyle/>
          <a:p>
            <a:pPr algn="ctr" indent="0" marL="0">
              <a:buNone/>
            </a:pPr>
            <a:r>
              <a:rPr lang="en-US" sz="1400" b="1" dirty="0">
                <a:solidFill>
                  <a:srgbClr val="CADCFC"/>
                </a:solidFill>
                <a:latin typeface="Calibri" pitchFamily="34" charset="0"/>
                <a:ea typeface="Calibri" pitchFamily="34" charset="-122"/>
                <a:cs typeface="Calibri" pitchFamily="34" charset="-120"/>
              </a:rPr>
              <a:t>PostgreSQL</a:t>
            </a:r>
            <a:endParaRPr lang="en-US" sz="1400" dirty="0"/>
          </a:p>
        </p:txBody>
      </p:sp>
      <p:sp>
        <p:nvSpPr>
          <p:cNvPr id="11" name="Shape 9"/>
          <p:cNvSpPr/>
          <p:nvPr/>
        </p:nvSpPr>
        <p:spPr>
          <a:xfrm>
            <a:off x="8549640" y="3328416"/>
            <a:ext cx="2468880" cy="512064"/>
          </a:xfrm>
          <a:prstGeom prst="roundRect">
            <a:avLst>
              <a:gd name="adj" fmla="val 17857"/>
            </a:avLst>
          </a:prstGeom>
          <a:solidFill>
            <a:srgbClr val="141A45"/>
          </a:solidFill>
          <a:ln w="12700">
            <a:solidFill>
              <a:srgbClr val="34407A"/>
            </a:solidFill>
            <a:prstDash val="solid"/>
          </a:ln>
        </p:spPr>
      </p:sp>
      <p:sp>
        <p:nvSpPr>
          <p:cNvPr id="12" name="Text 10"/>
          <p:cNvSpPr txBox="1"/>
          <p:nvPr/>
        </p:nvSpPr>
        <p:spPr>
          <a:xfrm>
            <a:off x="8549640" y="3328416"/>
            <a:ext cx="2468880" cy="512064"/>
          </a:xfrm>
          <a:prstGeom prst="rect">
            <a:avLst/>
          </a:prstGeom>
          <a:noFill/>
          <a:ln/>
        </p:spPr>
        <p:txBody>
          <a:bodyPr wrap="square" lIns="0" tIns="0" rIns="0" bIns="0" rtlCol="0" anchor="ctr"/>
          <a:lstStyle/>
          <a:p>
            <a:pPr algn="ctr" indent="0" marL="0">
              <a:buNone/>
            </a:pPr>
            <a:r>
              <a:rPr lang="en-US" sz="1400" b="1" dirty="0">
                <a:solidFill>
                  <a:srgbClr val="CADCFC"/>
                </a:solidFill>
                <a:latin typeface="Calibri" pitchFamily="34" charset="0"/>
                <a:ea typeface="Calibri" pitchFamily="34" charset="-122"/>
                <a:cs typeface="Calibri" pitchFamily="34" charset="-120"/>
              </a:rPr>
              <a:t>React</a:t>
            </a:r>
            <a:endParaRPr lang="en-US" sz="1400" dirty="0"/>
          </a:p>
        </p:txBody>
      </p:sp>
      <p:sp>
        <p:nvSpPr>
          <p:cNvPr id="13" name="Shape 11"/>
          <p:cNvSpPr/>
          <p:nvPr/>
        </p:nvSpPr>
        <p:spPr>
          <a:xfrm>
            <a:off x="8549640" y="3986784"/>
            <a:ext cx="2468880" cy="512064"/>
          </a:xfrm>
          <a:prstGeom prst="roundRect">
            <a:avLst>
              <a:gd name="adj" fmla="val 17857"/>
            </a:avLst>
          </a:prstGeom>
          <a:solidFill>
            <a:srgbClr val="141A45"/>
          </a:solidFill>
          <a:ln w="12700">
            <a:solidFill>
              <a:srgbClr val="34407A"/>
            </a:solidFill>
            <a:prstDash val="solid"/>
          </a:ln>
        </p:spPr>
      </p:sp>
      <p:sp>
        <p:nvSpPr>
          <p:cNvPr id="14" name="Text 12"/>
          <p:cNvSpPr txBox="1"/>
          <p:nvPr/>
        </p:nvSpPr>
        <p:spPr>
          <a:xfrm>
            <a:off x="8549640" y="3986784"/>
            <a:ext cx="2468880" cy="512064"/>
          </a:xfrm>
          <a:prstGeom prst="rect">
            <a:avLst/>
          </a:prstGeom>
          <a:noFill/>
          <a:ln/>
        </p:spPr>
        <p:txBody>
          <a:bodyPr wrap="square" lIns="0" tIns="0" rIns="0" bIns="0" rtlCol="0" anchor="ctr"/>
          <a:lstStyle/>
          <a:p>
            <a:pPr algn="ctr" indent="0" marL="0">
              <a:buNone/>
            </a:pPr>
            <a:r>
              <a:rPr lang="en-US" sz="1400" b="1" dirty="0">
                <a:solidFill>
                  <a:srgbClr val="CADCFC"/>
                </a:solidFill>
                <a:latin typeface="Calibri" pitchFamily="34" charset="0"/>
                <a:ea typeface="Calibri" pitchFamily="34" charset="-122"/>
                <a:cs typeface="Calibri" pitchFamily="34" charset="-120"/>
              </a:rPr>
              <a:t>Prisma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OBJECTIVE</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problem, and what I built</a:t>
            </a:r>
            <a:endParaRPr lang="en-US" sz="3200" dirty="0"/>
          </a:p>
        </p:txBody>
      </p:sp>
      <p:sp>
        <p:nvSpPr>
          <p:cNvPr id="4" name="Text 2"/>
          <p:cNvSpPr txBox="1"/>
          <p:nvPr/>
        </p:nvSpPr>
        <p:spPr>
          <a:xfrm>
            <a:off x="640080" y="1463040"/>
            <a:ext cx="10881360" cy="822960"/>
          </a:xfrm>
          <a:prstGeom prst="rect">
            <a:avLst/>
          </a:prstGeom>
          <a:noFill/>
          <a:ln/>
        </p:spPr>
        <p:txBody>
          <a:bodyPr wrap="square" lIns="0" tIns="0" rIns="0" bIns="0" rtlCol="0" anchor="ctr"/>
          <a:lstStyle/>
          <a:p>
            <a:pPr indent="0" marL="0">
              <a:lnSpc>
                <a:spcPct val="115000"/>
              </a:lnSpc>
              <a:buNone/>
            </a:pPr>
            <a:r>
              <a:rPr lang="en-US" sz="1500" dirty="0">
                <a:solidFill>
                  <a:srgbClr val="3F4665"/>
                </a:solidFill>
                <a:latin typeface="Calibri" pitchFamily="34" charset="0"/>
                <a:ea typeface="Calibri" pitchFamily="34" charset="-122"/>
                <a:cs typeface="Calibri" pitchFamily="34" charset="-120"/>
              </a:rPr>
              <a:t>Weekly status updates usually live in chat threads and free-form docs. They are inconsistent between people, impossible to compare, and there is no record of what feedback was given or what changed after it.</a:t>
            </a:r>
            <a:endParaRPr lang="en-US" sz="1500" dirty="0"/>
          </a:p>
        </p:txBody>
      </p:sp>
      <p:sp>
        <p:nvSpPr>
          <p:cNvPr id="5" name="Shape 3"/>
          <p:cNvSpPr/>
          <p:nvPr/>
        </p:nvSpPr>
        <p:spPr>
          <a:xfrm>
            <a:off x="640080" y="2468880"/>
            <a:ext cx="5257800" cy="1920240"/>
          </a:xfrm>
          <a:prstGeom prst="roundRect">
            <a:avLst>
              <a:gd name="adj" fmla="val 3810"/>
            </a:avLst>
          </a:prstGeom>
          <a:solidFill>
            <a:srgbClr val="F7F9FE"/>
          </a:solidFill>
          <a:ln w="12700">
            <a:solidFill>
              <a:srgbClr val="DDE3F5"/>
            </a:solidFill>
            <a:prstDash val="solid"/>
          </a:ln>
        </p:spPr>
      </p:sp>
      <p:sp>
        <p:nvSpPr>
          <p:cNvPr id="6" name="Shape 4"/>
          <p:cNvSpPr/>
          <p:nvPr/>
        </p:nvSpPr>
        <p:spPr>
          <a:xfrm>
            <a:off x="932688" y="2743200"/>
            <a:ext cx="457200" cy="457200"/>
          </a:xfrm>
          <a:prstGeom prst="ellipse">
            <a:avLst/>
          </a:prstGeom>
          <a:solidFill>
            <a:srgbClr val="1E2761"/>
          </a:solidFill>
          <a:ln/>
        </p:spPr>
      </p:sp>
      <p:sp>
        <p:nvSpPr>
          <p:cNvPr id="7" name="Text 5"/>
          <p:cNvSpPr txBox="1"/>
          <p:nvPr/>
        </p:nvSpPr>
        <p:spPr>
          <a:xfrm>
            <a:off x="932688" y="2743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
        <p:nvSpPr>
          <p:cNvPr id="8" name="Text 6"/>
          <p:cNvSpPr txBox="1"/>
          <p:nvPr/>
        </p:nvSpPr>
        <p:spPr>
          <a:xfrm>
            <a:off x="1536192" y="2770632"/>
            <a:ext cx="4023360" cy="365760"/>
          </a:xfrm>
          <a:prstGeom prst="rect">
            <a:avLst/>
          </a:prstGeom>
          <a:noFill/>
          <a:ln/>
        </p:spPr>
        <p:txBody>
          <a:bodyPr wrap="square" lIns="0" tIns="0" rIns="0" bIns="0" rtlCol="0" anchor="ctr"/>
          <a:lstStyle/>
          <a:p>
            <a:pPr indent="0" marL="0">
              <a:buNone/>
            </a:pPr>
            <a:r>
              <a:rPr lang="en-US" sz="1900" b="1" dirty="0">
                <a:solidFill>
                  <a:srgbClr val="1B1F3B"/>
                </a:solidFill>
                <a:latin typeface="Cambria" pitchFamily="34" charset="0"/>
                <a:ea typeface="Cambria" pitchFamily="34" charset="-122"/>
                <a:cs typeface="Cambria" pitchFamily="34" charset="-120"/>
              </a:rPr>
              <a:t>Team Member</a:t>
            </a:r>
            <a:endParaRPr lang="en-US" sz="1900" dirty="0"/>
          </a:p>
        </p:txBody>
      </p:sp>
      <p:sp>
        <p:nvSpPr>
          <p:cNvPr id="9" name="Text 7"/>
          <p:cNvSpPr txBox="1"/>
          <p:nvPr/>
        </p:nvSpPr>
        <p:spPr>
          <a:xfrm>
            <a:off x="932688" y="3364992"/>
            <a:ext cx="4663440" cy="91440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Files a weekly report using a fixed set of fields. Edits it while it is a draft, or after a manager asks for corrections. Sees only their own reports.</a:t>
            </a:r>
            <a:endParaRPr lang="en-US" sz="1250" dirty="0"/>
          </a:p>
        </p:txBody>
      </p:sp>
      <p:sp>
        <p:nvSpPr>
          <p:cNvPr id="10" name="Shape 8"/>
          <p:cNvSpPr/>
          <p:nvPr/>
        </p:nvSpPr>
        <p:spPr>
          <a:xfrm>
            <a:off x="6263640" y="2468880"/>
            <a:ext cx="5257800" cy="1920240"/>
          </a:xfrm>
          <a:prstGeom prst="roundRect">
            <a:avLst>
              <a:gd name="adj" fmla="val 3810"/>
            </a:avLst>
          </a:prstGeom>
          <a:solidFill>
            <a:srgbClr val="F7F9FE"/>
          </a:solidFill>
          <a:ln w="12700">
            <a:solidFill>
              <a:srgbClr val="DDE3F5"/>
            </a:solidFill>
            <a:prstDash val="solid"/>
          </a:ln>
        </p:spPr>
      </p:sp>
      <p:sp>
        <p:nvSpPr>
          <p:cNvPr id="11" name="Shape 9"/>
          <p:cNvSpPr/>
          <p:nvPr/>
        </p:nvSpPr>
        <p:spPr>
          <a:xfrm>
            <a:off x="6556248" y="2743200"/>
            <a:ext cx="457200" cy="457200"/>
          </a:xfrm>
          <a:prstGeom prst="ellipse">
            <a:avLst/>
          </a:prstGeom>
          <a:solidFill>
            <a:srgbClr val="1F7A5A"/>
          </a:solidFill>
          <a:ln/>
        </p:spPr>
      </p:sp>
      <p:sp>
        <p:nvSpPr>
          <p:cNvPr id="12" name="Text 10"/>
          <p:cNvSpPr txBox="1"/>
          <p:nvPr/>
        </p:nvSpPr>
        <p:spPr>
          <a:xfrm>
            <a:off x="6556248" y="27432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a:t>
            </a:r>
            <a:endParaRPr lang="en-US" sz="1300" dirty="0"/>
          </a:p>
        </p:txBody>
      </p:sp>
      <p:sp>
        <p:nvSpPr>
          <p:cNvPr id="13" name="Text 11"/>
          <p:cNvSpPr txBox="1"/>
          <p:nvPr/>
        </p:nvSpPr>
        <p:spPr>
          <a:xfrm>
            <a:off x="7159752" y="2770632"/>
            <a:ext cx="4023360" cy="365760"/>
          </a:xfrm>
          <a:prstGeom prst="rect">
            <a:avLst/>
          </a:prstGeom>
          <a:noFill/>
          <a:ln/>
        </p:spPr>
        <p:txBody>
          <a:bodyPr wrap="square" lIns="0" tIns="0" rIns="0" bIns="0" rtlCol="0" anchor="ctr"/>
          <a:lstStyle/>
          <a:p>
            <a:pPr indent="0" marL="0">
              <a:buNone/>
            </a:pPr>
            <a:r>
              <a:rPr lang="en-US" sz="1900" b="1" dirty="0">
                <a:solidFill>
                  <a:srgbClr val="1B1F3B"/>
                </a:solidFill>
                <a:latin typeface="Cambria" pitchFamily="34" charset="0"/>
                <a:ea typeface="Cambria" pitchFamily="34" charset="-122"/>
                <a:cs typeface="Cambria" pitchFamily="34" charset="-120"/>
              </a:rPr>
              <a:t>Manager</a:t>
            </a:r>
            <a:endParaRPr lang="en-US" sz="1900" dirty="0"/>
          </a:p>
        </p:txBody>
      </p:sp>
      <p:sp>
        <p:nvSpPr>
          <p:cNvPr id="14" name="Text 12"/>
          <p:cNvSpPr txBox="1"/>
          <p:nvPr/>
        </p:nvSpPr>
        <p:spPr>
          <a:xfrm>
            <a:off x="6556248" y="3364992"/>
            <a:ext cx="4663440" cy="91440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Sees every member's reports, filters by member, project, week and status, and takes one review action: Approve, or Request Changes with a comment.</a:t>
            </a:r>
            <a:endParaRPr lang="en-US" sz="1250" dirty="0"/>
          </a:p>
        </p:txBody>
      </p:sp>
      <p:sp>
        <p:nvSpPr>
          <p:cNvPr id="15" name="Text 13"/>
          <p:cNvSpPr txBox="1"/>
          <p:nvPr/>
        </p:nvSpPr>
        <p:spPr>
          <a:xfrm>
            <a:off x="640080" y="4590288"/>
            <a:ext cx="4572000" cy="32004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Design goals</a:t>
            </a:r>
            <a:endParaRPr lang="en-US" sz="1700" dirty="0"/>
          </a:p>
        </p:txBody>
      </p:sp>
      <p:sp>
        <p:nvSpPr>
          <p:cNvPr id="16" name="Text 14"/>
          <p:cNvSpPr txBox="1"/>
          <p:nvPr/>
        </p:nvSpPr>
        <p:spPr>
          <a:xfrm>
            <a:off x="640080" y="4956048"/>
            <a:ext cx="10881360" cy="14630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Fixed report structure - identical fields for everyone, so reports are comparable</a:t>
            </a:r>
            <a:endParaRPr lang="en-US" sz="1350" dirty="0"/>
          </a:p>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A real review cycle, not a one-way submission</a:t>
            </a:r>
            <a:endParaRPr lang="en-US" sz="1350" dirty="0"/>
          </a:p>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Full version history - nothing is silently overwritten</a:t>
            </a:r>
            <a:endParaRPr lang="en-US" sz="1350" dirty="0"/>
          </a:p>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Strict data isolation between team members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TECHNOLOGY</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Stack, and why each piece</a:t>
            </a:r>
            <a:endParaRPr lang="en-US" sz="3200" dirty="0"/>
          </a:p>
        </p:txBody>
      </p:sp>
      <p:sp>
        <p:nvSpPr>
          <p:cNvPr id="4" name="Shape 2"/>
          <p:cNvSpPr/>
          <p:nvPr/>
        </p:nvSpPr>
        <p:spPr>
          <a:xfrm>
            <a:off x="640080" y="1536192"/>
            <a:ext cx="10881360" cy="1024128"/>
          </a:xfrm>
          <a:prstGeom prst="roundRect">
            <a:avLst>
              <a:gd name="adj" fmla="val 7143"/>
            </a:avLst>
          </a:prstGeom>
          <a:solidFill>
            <a:srgbClr val="F7F9FE"/>
          </a:solidFill>
          <a:ln w="12700">
            <a:solidFill>
              <a:srgbClr val="DDE3F5"/>
            </a:solidFill>
            <a:prstDash val="solid"/>
          </a:ln>
        </p:spPr>
      </p:sp>
      <p:sp>
        <p:nvSpPr>
          <p:cNvPr id="5" name="Shape 3"/>
          <p:cNvSpPr/>
          <p:nvPr/>
        </p:nvSpPr>
        <p:spPr>
          <a:xfrm>
            <a:off x="914400" y="1819656"/>
            <a:ext cx="457200" cy="457200"/>
          </a:xfrm>
          <a:prstGeom prst="ellipse">
            <a:avLst/>
          </a:prstGeom>
          <a:solidFill>
            <a:srgbClr val="1E2761"/>
          </a:solidFill>
          <a:ln/>
        </p:spPr>
      </p:sp>
      <p:sp>
        <p:nvSpPr>
          <p:cNvPr id="6" name="Text 4"/>
          <p:cNvSpPr txBox="1"/>
          <p:nvPr/>
        </p:nvSpPr>
        <p:spPr>
          <a:xfrm>
            <a:off x="914400" y="181965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554480" y="1664208"/>
            <a:ext cx="3383280" cy="402336"/>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NestJS 12 + TypeScript</a:t>
            </a:r>
            <a:endParaRPr lang="en-US" sz="1600" dirty="0"/>
          </a:p>
        </p:txBody>
      </p:sp>
      <p:sp>
        <p:nvSpPr>
          <p:cNvPr id="8" name="Text 6"/>
          <p:cNvSpPr txBox="1"/>
          <p:nvPr/>
        </p:nvSpPr>
        <p:spPr>
          <a:xfrm>
            <a:off x="5074920" y="1691640"/>
            <a:ext cx="6172200" cy="77724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Modular DI, and guards/decorators give me declarative, testable access control instead of scattered if-statements.</a:t>
            </a:r>
            <a:endParaRPr lang="en-US" sz="1250" dirty="0"/>
          </a:p>
        </p:txBody>
      </p:sp>
      <p:sp>
        <p:nvSpPr>
          <p:cNvPr id="9" name="Shape 7"/>
          <p:cNvSpPr/>
          <p:nvPr/>
        </p:nvSpPr>
        <p:spPr>
          <a:xfrm>
            <a:off x="640080" y="2706624"/>
            <a:ext cx="10881360" cy="1024128"/>
          </a:xfrm>
          <a:prstGeom prst="roundRect">
            <a:avLst>
              <a:gd name="adj" fmla="val 7143"/>
            </a:avLst>
          </a:prstGeom>
          <a:solidFill>
            <a:srgbClr val="F7F9FE"/>
          </a:solidFill>
          <a:ln w="12700">
            <a:solidFill>
              <a:srgbClr val="DDE3F5"/>
            </a:solidFill>
            <a:prstDash val="solid"/>
          </a:ln>
        </p:spPr>
      </p:sp>
      <p:sp>
        <p:nvSpPr>
          <p:cNvPr id="10" name="Shape 8"/>
          <p:cNvSpPr/>
          <p:nvPr/>
        </p:nvSpPr>
        <p:spPr>
          <a:xfrm>
            <a:off x="914400" y="2990088"/>
            <a:ext cx="457200" cy="457200"/>
          </a:xfrm>
          <a:prstGeom prst="ellipse">
            <a:avLst/>
          </a:prstGeom>
          <a:solidFill>
            <a:srgbClr val="1F7A5A"/>
          </a:solidFill>
          <a:ln/>
        </p:spPr>
      </p:sp>
      <p:sp>
        <p:nvSpPr>
          <p:cNvPr id="11" name="Text 9"/>
          <p:cNvSpPr txBox="1"/>
          <p:nvPr/>
        </p:nvSpPr>
        <p:spPr>
          <a:xfrm>
            <a:off x="914400" y="299008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554480" y="2834640"/>
            <a:ext cx="3383280" cy="402336"/>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Prisma 7 + PostgreSQL</a:t>
            </a:r>
            <a:endParaRPr lang="en-US" sz="1600" dirty="0"/>
          </a:p>
        </p:txBody>
      </p:sp>
      <p:sp>
        <p:nvSpPr>
          <p:cNvPr id="13" name="Text 11"/>
          <p:cNvSpPr txBox="1"/>
          <p:nvPr/>
        </p:nvSpPr>
        <p:spPr>
          <a:xfrm>
            <a:off x="5074920" y="2862072"/>
            <a:ext cx="6172200" cy="77724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Schema-first with generated types. The version graph is deeply relational - foreign keys and a composite unique constraint do real work here.</a:t>
            </a:r>
            <a:endParaRPr lang="en-US" sz="1250" dirty="0"/>
          </a:p>
        </p:txBody>
      </p:sp>
      <p:sp>
        <p:nvSpPr>
          <p:cNvPr id="14" name="Shape 12"/>
          <p:cNvSpPr/>
          <p:nvPr/>
        </p:nvSpPr>
        <p:spPr>
          <a:xfrm>
            <a:off x="640080" y="3877056"/>
            <a:ext cx="10881360" cy="1024128"/>
          </a:xfrm>
          <a:prstGeom prst="roundRect">
            <a:avLst>
              <a:gd name="adj" fmla="val 7143"/>
            </a:avLst>
          </a:prstGeom>
          <a:solidFill>
            <a:srgbClr val="F7F9FE"/>
          </a:solidFill>
          <a:ln w="12700">
            <a:solidFill>
              <a:srgbClr val="DDE3F5"/>
            </a:solidFill>
            <a:prstDash val="solid"/>
          </a:ln>
        </p:spPr>
      </p:sp>
      <p:sp>
        <p:nvSpPr>
          <p:cNvPr id="15" name="Shape 13"/>
          <p:cNvSpPr/>
          <p:nvPr/>
        </p:nvSpPr>
        <p:spPr>
          <a:xfrm>
            <a:off x="914400" y="4160520"/>
            <a:ext cx="457200" cy="457200"/>
          </a:xfrm>
          <a:prstGeom prst="ellipse">
            <a:avLst/>
          </a:prstGeom>
          <a:solidFill>
            <a:srgbClr val="B4741C"/>
          </a:solidFill>
          <a:ln/>
        </p:spPr>
      </p:sp>
      <p:sp>
        <p:nvSpPr>
          <p:cNvPr id="16" name="Text 14"/>
          <p:cNvSpPr txBox="1"/>
          <p:nvPr/>
        </p:nvSpPr>
        <p:spPr>
          <a:xfrm>
            <a:off x="914400" y="41605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554480" y="4005072"/>
            <a:ext cx="3383280" cy="402336"/>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React 19 + TanStack Query</a:t>
            </a:r>
            <a:endParaRPr lang="en-US" sz="1600" dirty="0"/>
          </a:p>
        </p:txBody>
      </p:sp>
      <p:sp>
        <p:nvSpPr>
          <p:cNvPr id="18" name="Text 16"/>
          <p:cNvSpPr txBox="1"/>
          <p:nvPr/>
        </p:nvSpPr>
        <p:spPr>
          <a:xfrm>
            <a:off x="5074920" y="4032504"/>
            <a:ext cx="6172200" cy="77724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Query owns server state, so a manager's review action invalidates and refreshes the dashboard with no manual wiring.</a:t>
            </a:r>
            <a:endParaRPr lang="en-US" sz="1250" dirty="0"/>
          </a:p>
        </p:txBody>
      </p:sp>
      <p:sp>
        <p:nvSpPr>
          <p:cNvPr id="19" name="Shape 17"/>
          <p:cNvSpPr/>
          <p:nvPr/>
        </p:nvSpPr>
        <p:spPr>
          <a:xfrm>
            <a:off x="640080" y="5047488"/>
            <a:ext cx="10881360" cy="1024128"/>
          </a:xfrm>
          <a:prstGeom prst="roundRect">
            <a:avLst>
              <a:gd name="adj" fmla="val 7143"/>
            </a:avLst>
          </a:prstGeom>
          <a:solidFill>
            <a:srgbClr val="F7F9FE"/>
          </a:solidFill>
          <a:ln w="12700">
            <a:solidFill>
              <a:srgbClr val="DDE3F5"/>
            </a:solidFill>
            <a:prstDash val="solid"/>
          </a:ln>
        </p:spPr>
      </p:sp>
      <p:sp>
        <p:nvSpPr>
          <p:cNvPr id="20" name="Shape 18"/>
          <p:cNvSpPr/>
          <p:nvPr/>
        </p:nvSpPr>
        <p:spPr>
          <a:xfrm>
            <a:off x="914400" y="5330952"/>
            <a:ext cx="457200" cy="457200"/>
          </a:xfrm>
          <a:prstGeom prst="ellipse">
            <a:avLst/>
          </a:prstGeom>
          <a:solidFill>
            <a:srgbClr val="5A3FA8"/>
          </a:solidFill>
          <a:ln/>
        </p:spPr>
      </p:sp>
      <p:sp>
        <p:nvSpPr>
          <p:cNvPr id="21" name="Text 19"/>
          <p:cNvSpPr txBox="1"/>
          <p:nvPr/>
        </p:nvSpPr>
        <p:spPr>
          <a:xfrm>
            <a:off x="914400" y="5330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554480" y="5175504"/>
            <a:ext cx="3383280" cy="402336"/>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Tailwind + shadcn/ui</a:t>
            </a:r>
            <a:endParaRPr lang="en-US" sz="1600" dirty="0"/>
          </a:p>
        </p:txBody>
      </p:sp>
      <p:sp>
        <p:nvSpPr>
          <p:cNvPr id="23" name="Text 21"/>
          <p:cNvSpPr txBox="1"/>
          <p:nvPr/>
        </p:nvSpPr>
        <p:spPr>
          <a:xfrm>
            <a:off x="5074920" y="5202936"/>
            <a:ext cx="6172200" cy="77724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Accessible primitives I compose, not a theme I fight. Keeps components reusable across both roles.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Request path, end to end</a:t>
            </a:r>
            <a:endParaRPr lang="en-US" sz="3200" dirty="0"/>
          </a:p>
        </p:txBody>
      </p:sp>
      <p:sp>
        <p:nvSpPr>
          <p:cNvPr id="4" name="Shape 2"/>
          <p:cNvSpPr/>
          <p:nvPr/>
        </p:nvSpPr>
        <p:spPr>
          <a:xfrm>
            <a:off x="640080" y="1828800"/>
            <a:ext cx="1627632" cy="1051560"/>
          </a:xfrm>
          <a:prstGeom prst="roundRect">
            <a:avLst>
              <a:gd name="adj" fmla="val 6957"/>
            </a:avLst>
          </a:prstGeom>
          <a:solidFill>
            <a:srgbClr val="F7F9FE"/>
          </a:solidFill>
          <a:ln w="12700">
            <a:solidFill>
              <a:srgbClr val="DDE3F5"/>
            </a:solidFill>
            <a:prstDash val="solid"/>
          </a:ln>
        </p:spPr>
      </p:sp>
      <p:sp>
        <p:nvSpPr>
          <p:cNvPr id="5" name="Text 3"/>
          <p:cNvSpPr txBox="1"/>
          <p:nvPr/>
        </p:nvSpPr>
        <p:spPr>
          <a:xfrm>
            <a:off x="640080" y="2011680"/>
            <a:ext cx="1627632" cy="310896"/>
          </a:xfrm>
          <a:prstGeom prst="rect">
            <a:avLst/>
          </a:prstGeom>
          <a:noFill/>
          <a:ln/>
        </p:spPr>
        <p:txBody>
          <a:bodyPr wrap="square" lIns="0" tIns="0" rIns="0" bIns="0" rtlCol="0" anchor="ctr"/>
          <a:lstStyle/>
          <a:p>
            <a:pPr algn="ctr" indent="0" marL="0">
              <a:buNone/>
            </a:pPr>
            <a:r>
              <a:rPr lang="en-US" sz="1400" b="1" dirty="0">
                <a:solidFill>
                  <a:srgbClr val="1B1F3B"/>
                </a:solidFill>
                <a:latin typeface="Cambria" pitchFamily="34" charset="0"/>
                <a:ea typeface="Cambria" pitchFamily="34" charset="-122"/>
                <a:cs typeface="Cambria" pitchFamily="34" charset="-120"/>
              </a:rPr>
              <a:t>React SPA</a:t>
            </a:r>
            <a:endParaRPr lang="en-US" sz="1400" dirty="0"/>
          </a:p>
        </p:txBody>
      </p:sp>
      <p:sp>
        <p:nvSpPr>
          <p:cNvPr id="6" name="Text 4"/>
          <p:cNvSpPr txBox="1"/>
          <p:nvPr/>
        </p:nvSpPr>
        <p:spPr>
          <a:xfrm>
            <a:off x="694944" y="2340864"/>
            <a:ext cx="1517904" cy="292608"/>
          </a:xfrm>
          <a:prstGeom prst="rect">
            <a:avLst/>
          </a:prstGeom>
          <a:noFill/>
          <a:ln/>
        </p:spPr>
        <p:txBody>
          <a:bodyPr wrap="square" lIns="0" tIns="0" rIns="0" bIns="0" rtlCol="0" anchor="ctr"/>
          <a:lstStyle/>
          <a:p>
            <a:pPr algn="ctr" indent="0" marL="0">
              <a:buNone/>
            </a:pPr>
            <a:r>
              <a:rPr lang="en-US" sz="1000" dirty="0">
                <a:solidFill>
                  <a:srgbClr val="7A82A3"/>
                </a:solidFill>
                <a:latin typeface="Calibri" pitchFamily="34" charset="0"/>
                <a:ea typeface="Calibri" pitchFamily="34" charset="-122"/>
                <a:cs typeface="Calibri" pitchFamily="34" charset="-120"/>
              </a:rPr>
              <a:t>Vite | Router</a:t>
            </a:r>
            <a:endParaRPr lang="en-US" sz="1000" dirty="0"/>
          </a:p>
        </p:txBody>
      </p:sp>
      <p:sp>
        <p:nvSpPr>
          <p:cNvPr id="7" name="Shape 5"/>
          <p:cNvSpPr/>
          <p:nvPr/>
        </p:nvSpPr>
        <p:spPr>
          <a:xfrm>
            <a:off x="2295144" y="2359152"/>
            <a:ext cx="182880" cy="0"/>
          </a:xfrm>
          <a:prstGeom prst="line">
            <a:avLst/>
          </a:prstGeom>
          <a:noFill/>
          <a:ln w="19050">
            <a:solidFill>
              <a:srgbClr val="7A82A3"/>
            </a:solidFill>
            <a:prstDash val="solid"/>
            <a:tailEnd type="triangle"/>
          </a:ln>
        </p:spPr>
      </p:sp>
      <p:sp>
        <p:nvSpPr>
          <p:cNvPr id="8" name="Shape 6"/>
          <p:cNvSpPr/>
          <p:nvPr/>
        </p:nvSpPr>
        <p:spPr>
          <a:xfrm>
            <a:off x="2505456" y="1828800"/>
            <a:ext cx="1627632" cy="1051560"/>
          </a:xfrm>
          <a:prstGeom prst="roundRect">
            <a:avLst>
              <a:gd name="adj" fmla="val 6957"/>
            </a:avLst>
          </a:prstGeom>
          <a:solidFill>
            <a:srgbClr val="F7F9FE"/>
          </a:solidFill>
          <a:ln w="12700">
            <a:solidFill>
              <a:srgbClr val="DDE3F5"/>
            </a:solidFill>
            <a:prstDash val="solid"/>
          </a:ln>
        </p:spPr>
      </p:sp>
      <p:sp>
        <p:nvSpPr>
          <p:cNvPr id="9" name="Text 7"/>
          <p:cNvSpPr txBox="1"/>
          <p:nvPr/>
        </p:nvSpPr>
        <p:spPr>
          <a:xfrm>
            <a:off x="2505456" y="2011680"/>
            <a:ext cx="1627632" cy="310896"/>
          </a:xfrm>
          <a:prstGeom prst="rect">
            <a:avLst/>
          </a:prstGeom>
          <a:noFill/>
          <a:ln/>
        </p:spPr>
        <p:txBody>
          <a:bodyPr wrap="square" lIns="0" tIns="0" rIns="0" bIns="0" rtlCol="0" anchor="ctr"/>
          <a:lstStyle/>
          <a:p>
            <a:pPr algn="ctr" indent="0" marL="0">
              <a:buNone/>
            </a:pPr>
            <a:r>
              <a:rPr lang="en-US" sz="1400" b="1" dirty="0">
                <a:solidFill>
                  <a:srgbClr val="1B1F3B"/>
                </a:solidFill>
                <a:latin typeface="Cambria" pitchFamily="34" charset="0"/>
                <a:ea typeface="Cambria" pitchFamily="34" charset="-122"/>
                <a:cs typeface="Cambria" pitchFamily="34" charset="-120"/>
              </a:rPr>
              <a:t>axios</a:t>
            </a:r>
            <a:endParaRPr lang="en-US" sz="1400" dirty="0"/>
          </a:p>
        </p:txBody>
      </p:sp>
      <p:sp>
        <p:nvSpPr>
          <p:cNvPr id="10" name="Text 8"/>
          <p:cNvSpPr txBox="1"/>
          <p:nvPr/>
        </p:nvSpPr>
        <p:spPr>
          <a:xfrm>
            <a:off x="2560320" y="2340864"/>
            <a:ext cx="1517904" cy="292608"/>
          </a:xfrm>
          <a:prstGeom prst="rect">
            <a:avLst/>
          </a:prstGeom>
          <a:noFill/>
          <a:ln/>
        </p:spPr>
        <p:txBody>
          <a:bodyPr wrap="square" lIns="0" tIns="0" rIns="0" bIns="0" rtlCol="0" anchor="ctr"/>
          <a:lstStyle/>
          <a:p>
            <a:pPr algn="ctr" indent="0" marL="0">
              <a:buNone/>
            </a:pPr>
            <a:r>
              <a:rPr lang="en-US" sz="1000" dirty="0">
                <a:solidFill>
                  <a:srgbClr val="7A82A3"/>
                </a:solidFill>
                <a:latin typeface="Calibri" pitchFamily="34" charset="0"/>
                <a:ea typeface="Calibri" pitchFamily="34" charset="-122"/>
                <a:cs typeface="Calibri" pitchFamily="34" charset="-120"/>
              </a:rPr>
              <a:t>JWT interceptor</a:t>
            </a:r>
            <a:endParaRPr lang="en-US" sz="1000" dirty="0"/>
          </a:p>
        </p:txBody>
      </p:sp>
      <p:sp>
        <p:nvSpPr>
          <p:cNvPr id="11" name="Shape 9"/>
          <p:cNvSpPr/>
          <p:nvPr/>
        </p:nvSpPr>
        <p:spPr>
          <a:xfrm>
            <a:off x="4160520" y="2359152"/>
            <a:ext cx="182880" cy="0"/>
          </a:xfrm>
          <a:prstGeom prst="line">
            <a:avLst/>
          </a:prstGeom>
          <a:noFill/>
          <a:ln w="19050">
            <a:solidFill>
              <a:srgbClr val="7A82A3"/>
            </a:solidFill>
            <a:prstDash val="solid"/>
            <a:tailEnd type="triangle"/>
          </a:ln>
        </p:spPr>
      </p:sp>
      <p:sp>
        <p:nvSpPr>
          <p:cNvPr id="12" name="Shape 10"/>
          <p:cNvSpPr/>
          <p:nvPr/>
        </p:nvSpPr>
        <p:spPr>
          <a:xfrm>
            <a:off x="4370832" y="1828800"/>
            <a:ext cx="1627632" cy="1051560"/>
          </a:xfrm>
          <a:prstGeom prst="roundRect">
            <a:avLst>
              <a:gd name="adj" fmla="val 6957"/>
            </a:avLst>
          </a:prstGeom>
          <a:solidFill>
            <a:srgbClr val="FBECEE"/>
          </a:solidFill>
          <a:ln w="19050">
            <a:solidFill>
              <a:srgbClr val="9B2C3B"/>
            </a:solidFill>
            <a:prstDash val="solid"/>
          </a:ln>
        </p:spPr>
      </p:sp>
      <p:sp>
        <p:nvSpPr>
          <p:cNvPr id="13" name="Text 11"/>
          <p:cNvSpPr txBox="1"/>
          <p:nvPr/>
        </p:nvSpPr>
        <p:spPr>
          <a:xfrm>
            <a:off x="4370832" y="2011680"/>
            <a:ext cx="1627632" cy="310896"/>
          </a:xfrm>
          <a:prstGeom prst="rect">
            <a:avLst/>
          </a:prstGeom>
          <a:noFill/>
          <a:ln/>
        </p:spPr>
        <p:txBody>
          <a:bodyPr wrap="square" lIns="0" tIns="0" rIns="0" bIns="0" rtlCol="0" anchor="ctr"/>
          <a:lstStyle/>
          <a:p>
            <a:pPr algn="ctr" indent="0" marL="0">
              <a:buNone/>
            </a:pPr>
            <a:r>
              <a:rPr lang="en-US" sz="1400" b="1" dirty="0">
                <a:solidFill>
                  <a:srgbClr val="9B2C3B"/>
                </a:solidFill>
                <a:latin typeface="Cambria" pitchFamily="34" charset="0"/>
                <a:ea typeface="Cambria" pitchFamily="34" charset="-122"/>
                <a:cs typeface="Cambria" pitchFamily="34" charset="-120"/>
              </a:rPr>
              <a:t>Guards</a:t>
            </a:r>
            <a:endParaRPr lang="en-US" sz="1400" dirty="0"/>
          </a:p>
        </p:txBody>
      </p:sp>
      <p:sp>
        <p:nvSpPr>
          <p:cNvPr id="14" name="Text 12"/>
          <p:cNvSpPr txBox="1"/>
          <p:nvPr/>
        </p:nvSpPr>
        <p:spPr>
          <a:xfrm>
            <a:off x="4425696" y="2340864"/>
            <a:ext cx="1517904" cy="292608"/>
          </a:xfrm>
          <a:prstGeom prst="rect">
            <a:avLst/>
          </a:prstGeom>
          <a:noFill/>
          <a:ln/>
        </p:spPr>
        <p:txBody>
          <a:bodyPr wrap="square" lIns="0" tIns="0" rIns="0" bIns="0" rtlCol="0" anchor="ctr"/>
          <a:lstStyle/>
          <a:p>
            <a:pPr algn="ctr" indent="0" marL="0">
              <a:buNone/>
            </a:pPr>
            <a:r>
              <a:rPr lang="en-US" sz="1000" dirty="0">
                <a:solidFill>
                  <a:srgbClr val="7A82A3"/>
                </a:solidFill>
                <a:latin typeface="Calibri" pitchFamily="34" charset="0"/>
                <a:ea typeface="Calibri" pitchFamily="34" charset="-122"/>
                <a:cs typeface="Calibri" pitchFamily="34" charset="-120"/>
              </a:rPr>
              <a:t>JWT then Roles</a:t>
            </a:r>
            <a:endParaRPr lang="en-US" sz="1000" dirty="0"/>
          </a:p>
        </p:txBody>
      </p:sp>
      <p:sp>
        <p:nvSpPr>
          <p:cNvPr id="15" name="Shape 13"/>
          <p:cNvSpPr/>
          <p:nvPr/>
        </p:nvSpPr>
        <p:spPr>
          <a:xfrm>
            <a:off x="6025896" y="2359152"/>
            <a:ext cx="182880" cy="0"/>
          </a:xfrm>
          <a:prstGeom prst="line">
            <a:avLst/>
          </a:prstGeom>
          <a:noFill/>
          <a:ln w="19050">
            <a:solidFill>
              <a:srgbClr val="7A82A3"/>
            </a:solidFill>
            <a:prstDash val="solid"/>
            <a:tailEnd type="triangle"/>
          </a:ln>
        </p:spPr>
      </p:sp>
      <p:sp>
        <p:nvSpPr>
          <p:cNvPr id="16" name="Shape 14"/>
          <p:cNvSpPr/>
          <p:nvPr/>
        </p:nvSpPr>
        <p:spPr>
          <a:xfrm>
            <a:off x="6236208" y="1828800"/>
            <a:ext cx="1627632" cy="1051560"/>
          </a:xfrm>
          <a:prstGeom prst="roundRect">
            <a:avLst>
              <a:gd name="adj" fmla="val 6957"/>
            </a:avLst>
          </a:prstGeom>
          <a:solidFill>
            <a:srgbClr val="F7F9FE"/>
          </a:solidFill>
          <a:ln w="12700">
            <a:solidFill>
              <a:srgbClr val="DDE3F5"/>
            </a:solidFill>
            <a:prstDash val="solid"/>
          </a:ln>
        </p:spPr>
      </p:sp>
      <p:sp>
        <p:nvSpPr>
          <p:cNvPr id="17" name="Text 15"/>
          <p:cNvSpPr txBox="1"/>
          <p:nvPr/>
        </p:nvSpPr>
        <p:spPr>
          <a:xfrm>
            <a:off x="6236208" y="2011680"/>
            <a:ext cx="1627632" cy="310896"/>
          </a:xfrm>
          <a:prstGeom prst="rect">
            <a:avLst/>
          </a:prstGeom>
          <a:noFill/>
          <a:ln/>
        </p:spPr>
        <p:txBody>
          <a:bodyPr wrap="square" lIns="0" tIns="0" rIns="0" bIns="0" rtlCol="0" anchor="ctr"/>
          <a:lstStyle/>
          <a:p>
            <a:pPr algn="ctr" indent="0" marL="0">
              <a:buNone/>
            </a:pPr>
            <a:r>
              <a:rPr lang="en-US" sz="1400" b="1" dirty="0">
                <a:solidFill>
                  <a:srgbClr val="1B1F3B"/>
                </a:solidFill>
                <a:latin typeface="Cambria" pitchFamily="34" charset="0"/>
                <a:ea typeface="Cambria" pitchFamily="34" charset="-122"/>
                <a:cs typeface="Cambria" pitchFamily="34" charset="-120"/>
              </a:rPr>
              <a:t>Controller</a:t>
            </a:r>
            <a:endParaRPr lang="en-US" sz="1400" dirty="0"/>
          </a:p>
        </p:txBody>
      </p:sp>
      <p:sp>
        <p:nvSpPr>
          <p:cNvPr id="18" name="Text 16"/>
          <p:cNvSpPr txBox="1"/>
          <p:nvPr/>
        </p:nvSpPr>
        <p:spPr>
          <a:xfrm>
            <a:off x="6291072" y="2340864"/>
            <a:ext cx="1517904" cy="292608"/>
          </a:xfrm>
          <a:prstGeom prst="rect">
            <a:avLst/>
          </a:prstGeom>
          <a:noFill/>
          <a:ln/>
        </p:spPr>
        <p:txBody>
          <a:bodyPr wrap="square" lIns="0" tIns="0" rIns="0" bIns="0" rtlCol="0" anchor="ctr"/>
          <a:lstStyle/>
          <a:p>
            <a:pPr algn="ctr" indent="0" marL="0">
              <a:buNone/>
            </a:pPr>
            <a:r>
              <a:rPr lang="en-US" sz="1000" dirty="0">
                <a:solidFill>
                  <a:srgbClr val="7A82A3"/>
                </a:solidFill>
                <a:latin typeface="Calibri" pitchFamily="34" charset="0"/>
                <a:ea typeface="Calibri" pitchFamily="34" charset="-122"/>
                <a:cs typeface="Calibri" pitchFamily="34" charset="-120"/>
              </a:rPr>
              <a:t>DTO binding</a:t>
            </a:r>
            <a:endParaRPr lang="en-US" sz="1000" dirty="0"/>
          </a:p>
        </p:txBody>
      </p:sp>
      <p:sp>
        <p:nvSpPr>
          <p:cNvPr id="19" name="Shape 17"/>
          <p:cNvSpPr/>
          <p:nvPr/>
        </p:nvSpPr>
        <p:spPr>
          <a:xfrm>
            <a:off x="7891272" y="2359152"/>
            <a:ext cx="182880" cy="0"/>
          </a:xfrm>
          <a:prstGeom prst="line">
            <a:avLst/>
          </a:prstGeom>
          <a:noFill/>
          <a:ln w="19050">
            <a:solidFill>
              <a:srgbClr val="7A82A3"/>
            </a:solidFill>
            <a:prstDash val="solid"/>
            <a:tailEnd type="triangle"/>
          </a:ln>
        </p:spPr>
      </p:sp>
      <p:sp>
        <p:nvSpPr>
          <p:cNvPr id="20" name="Shape 18"/>
          <p:cNvSpPr/>
          <p:nvPr/>
        </p:nvSpPr>
        <p:spPr>
          <a:xfrm>
            <a:off x="8101584" y="1828800"/>
            <a:ext cx="1627632" cy="1051560"/>
          </a:xfrm>
          <a:prstGeom prst="roundRect">
            <a:avLst>
              <a:gd name="adj" fmla="val 6957"/>
            </a:avLst>
          </a:prstGeom>
          <a:solidFill>
            <a:srgbClr val="F7F9FE"/>
          </a:solidFill>
          <a:ln w="12700">
            <a:solidFill>
              <a:srgbClr val="DDE3F5"/>
            </a:solidFill>
            <a:prstDash val="solid"/>
          </a:ln>
        </p:spPr>
      </p:sp>
      <p:sp>
        <p:nvSpPr>
          <p:cNvPr id="21" name="Text 19"/>
          <p:cNvSpPr txBox="1"/>
          <p:nvPr/>
        </p:nvSpPr>
        <p:spPr>
          <a:xfrm>
            <a:off x="8101584" y="2011680"/>
            <a:ext cx="1627632" cy="310896"/>
          </a:xfrm>
          <a:prstGeom prst="rect">
            <a:avLst/>
          </a:prstGeom>
          <a:noFill/>
          <a:ln/>
        </p:spPr>
        <p:txBody>
          <a:bodyPr wrap="square" lIns="0" tIns="0" rIns="0" bIns="0" rtlCol="0" anchor="ctr"/>
          <a:lstStyle/>
          <a:p>
            <a:pPr algn="ctr" indent="0" marL="0">
              <a:buNone/>
            </a:pPr>
            <a:r>
              <a:rPr lang="en-US" sz="1400" b="1" dirty="0">
                <a:solidFill>
                  <a:srgbClr val="1B1F3B"/>
                </a:solidFill>
                <a:latin typeface="Cambria" pitchFamily="34" charset="0"/>
                <a:ea typeface="Cambria" pitchFamily="34" charset="-122"/>
                <a:cs typeface="Cambria" pitchFamily="34" charset="-120"/>
              </a:rPr>
              <a:t>Service</a:t>
            </a:r>
            <a:endParaRPr lang="en-US" sz="1400" dirty="0"/>
          </a:p>
        </p:txBody>
      </p:sp>
      <p:sp>
        <p:nvSpPr>
          <p:cNvPr id="22" name="Text 20"/>
          <p:cNvSpPr txBox="1"/>
          <p:nvPr/>
        </p:nvSpPr>
        <p:spPr>
          <a:xfrm>
            <a:off x="8156448" y="2340864"/>
            <a:ext cx="1517904" cy="292608"/>
          </a:xfrm>
          <a:prstGeom prst="rect">
            <a:avLst/>
          </a:prstGeom>
          <a:noFill/>
          <a:ln/>
        </p:spPr>
        <p:txBody>
          <a:bodyPr wrap="square" lIns="0" tIns="0" rIns="0" bIns="0" rtlCol="0" anchor="ctr"/>
          <a:lstStyle/>
          <a:p>
            <a:pPr algn="ctr" indent="0" marL="0">
              <a:buNone/>
            </a:pPr>
            <a:r>
              <a:rPr lang="en-US" sz="1000" dirty="0">
                <a:solidFill>
                  <a:srgbClr val="7A82A3"/>
                </a:solidFill>
                <a:latin typeface="Calibri" pitchFamily="34" charset="0"/>
                <a:ea typeface="Calibri" pitchFamily="34" charset="-122"/>
                <a:cs typeface="Calibri" pitchFamily="34" charset="-120"/>
              </a:rPr>
              <a:t>Business rules</a:t>
            </a:r>
            <a:endParaRPr lang="en-US" sz="1000" dirty="0"/>
          </a:p>
        </p:txBody>
      </p:sp>
      <p:sp>
        <p:nvSpPr>
          <p:cNvPr id="23" name="Shape 21"/>
          <p:cNvSpPr/>
          <p:nvPr/>
        </p:nvSpPr>
        <p:spPr>
          <a:xfrm>
            <a:off x="9756648" y="2359152"/>
            <a:ext cx="182880" cy="0"/>
          </a:xfrm>
          <a:prstGeom prst="line">
            <a:avLst/>
          </a:prstGeom>
          <a:noFill/>
          <a:ln w="19050">
            <a:solidFill>
              <a:srgbClr val="7A82A3"/>
            </a:solidFill>
            <a:prstDash val="solid"/>
            <a:tailEnd type="triangle"/>
          </a:ln>
        </p:spPr>
      </p:sp>
      <p:sp>
        <p:nvSpPr>
          <p:cNvPr id="24" name="Shape 22"/>
          <p:cNvSpPr/>
          <p:nvPr/>
        </p:nvSpPr>
        <p:spPr>
          <a:xfrm>
            <a:off x="9966960" y="1828800"/>
            <a:ext cx="1627632" cy="1051560"/>
          </a:xfrm>
          <a:prstGeom prst="roundRect">
            <a:avLst>
              <a:gd name="adj" fmla="val 6957"/>
            </a:avLst>
          </a:prstGeom>
          <a:solidFill>
            <a:srgbClr val="F7F9FE"/>
          </a:solidFill>
          <a:ln w="12700">
            <a:solidFill>
              <a:srgbClr val="DDE3F5"/>
            </a:solidFill>
            <a:prstDash val="solid"/>
          </a:ln>
        </p:spPr>
      </p:sp>
      <p:sp>
        <p:nvSpPr>
          <p:cNvPr id="25" name="Text 23"/>
          <p:cNvSpPr txBox="1"/>
          <p:nvPr/>
        </p:nvSpPr>
        <p:spPr>
          <a:xfrm>
            <a:off x="9966960" y="2011680"/>
            <a:ext cx="1627632" cy="310896"/>
          </a:xfrm>
          <a:prstGeom prst="rect">
            <a:avLst/>
          </a:prstGeom>
          <a:noFill/>
          <a:ln/>
        </p:spPr>
        <p:txBody>
          <a:bodyPr wrap="square" lIns="0" tIns="0" rIns="0" bIns="0" rtlCol="0" anchor="ctr"/>
          <a:lstStyle/>
          <a:p>
            <a:pPr algn="ctr" indent="0" marL="0">
              <a:buNone/>
            </a:pPr>
            <a:r>
              <a:rPr lang="en-US" sz="1400" b="1" dirty="0">
                <a:solidFill>
                  <a:srgbClr val="1B1F3B"/>
                </a:solidFill>
                <a:latin typeface="Cambria" pitchFamily="34" charset="0"/>
                <a:ea typeface="Cambria" pitchFamily="34" charset="-122"/>
                <a:cs typeface="Cambria" pitchFamily="34" charset="-120"/>
              </a:rPr>
              <a:t>Prisma</a:t>
            </a:r>
            <a:endParaRPr lang="en-US" sz="1400" dirty="0"/>
          </a:p>
        </p:txBody>
      </p:sp>
      <p:sp>
        <p:nvSpPr>
          <p:cNvPr id="26" name="Text 24"/>
          <p:cNvSpPr txBox="1"/>
          <p:nvPr/>
        </p:nvSpPr>
        <p:spPr>
          <a:xfrm>
            <a:off x="10021824" y="2340864"/>
            <a:ext cx="1517904" cy="292608"/>
          </a:xfrm>
          <a:prstGeom prst="rect">
            <a:avLst/>
          </a:prstGeom>
          <a:noFill/>
          <a:ln/>
        </p:spPr>
        <p:txBody>
          <a:bodyPr wrap="square" lIns="0" tIns="0" rIns="0" bIns="0" rtlCol="0" anchor="ctr"/>
          <a:lstStyle/>
          <a:p>
            <a:pPr algn="ctr" indent="0" marL="0">
              <a:buNone/>
            </a:pPr>
            <a:r>
              <a:rPr lang="en-US" sz="1000" dirty="0">
                <a:solidFill>
                  <a:srgbClr val="7A82A3"/>
                </a:solidFill>
                <a:latin typeface="Calibri" pitchFamily="34" charset="0"/>
                <a:ea typeface="Calibri" pitchFamily="34" charset="-122"/>
                <a:cs typeface="Calibri" pitchFamily="34" charset="-120"/>
              </a:rPr>
              <a:t>PostgreSQL</a:t>
            </a:r>
            <a:endParaRPr lang="en-US" sz="1000" dirty="0"/>
          </a:p>
        </p:txBody>
      </p:sp>
      <p:sp>
        <p:nvSpPr>
          <p:cNvPr id="27" name="Text 25"/>
          <p:cNvSpPr txBox="1"/>
          <p:nvPr/>
        </p:nvSpPr>
        <p:spPr>
          <a:xfrm>
            <a:off x="640080" y="3246120"/>
            <a:ext cx="548640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Every route is guarded by default</a:t>
            </a:r>
            <a:endParaRPr lang="en-US" sz="1700" dirty="0"/>
          </a:p>
        </p:txBody>
      </p:sp>
      <p:sp>
        <p:nvSpPr>
          <p:cNvPr id="28" name="Text 26"/>
          <p:cNvSpPr txBox="1"/>
          <p:nvPr/>
        </p:nvSpPr>
        <p:spPr>
          <a:xfrm>
            <a:off x="640080" y="3611880"/>
            <a:ext cx="5577840" cy="914400"/>
          </a:xfrm>
          <a:prstGeom prst="rect">
            <a:avLst/>
          </a:prstGeom>
          <a:noFill/>
          <a:ln/>
        </p:spPr>
        <p:txBody>
          <a:bodyPr wrap="square" lIns="0" tIns="0" rIns="0" bIns="0" rtlCol="0" anchor="ctr"/>
          <a:lstStyle/>
          <a:p>
            <a:pPr indent="0" marL="0">
              <a:lnSpc>
                <a:spcPct val="115000"/>
              </a:lnSpc>
              <a:buNone/>
            </a:pPr>
            <a:r>
              <a:rPr lang="en-US" sz="1300" dirty="0">
                <a:solidFill>
                  <a:srgbClr val="3F4665"/>
                </a:solidFill>
                <a:latin typeface="Calibri" pitchFamily="34" charset="0"/>
                <a:ea typeface="Calibri" pitchFamily="34" charset="-122"/>
                <a:cs typeface="Calibri" pitchFamily="34" charset="-120"/>
              </a:rPr>
              <a:t>JwtAuthGuard and RolesGuard are registered globally with APP_GUARD in app.module.ts. Nothing is public unless it is explicitly opened with @Public() - only register and login are.</a:t>
            </a:r>
            <a:endParaRPr lang="en-US" sz="1300" dirty="0"/>
          </a:p>
        </p:txBody>
      </p:sp>
      <p:sp>
        <p:nvSpPr>
          <p:cNvPr id="29" name="Shape 27"/>
          <p:cNvSpPr/>
          <p:nvPr/>
        </p:nvSpPr>
        <p:spPr>
          <a:xfrm>
            <a:off x="640080" y="4572000"/>
            <a:ext cx="5577840" cy="1188720"/>
          </a:xfrm>
          <a:prstGeom prst="roundRect">
            <a:avLst>
              <a:gd name="adj" fmla="val 4615"/>
            </a:avLst>
          </a:prstGeom>
          <a:solidFill>
            <a:srgbClr val="141A45"/>
          </a:solidFill>
          <a:ln w="12700">
            <a:solidFill>
              <a:srgbClr val="141A45"/>
            </a:solidFill>
            <a:prstDash val="solid"/>
          </a:ln>
        </p:spPr>
      </p:sp>
      <p:sp>
        <p:nvSpPr>
          <p:cNvPr id="30" name="Text 28"/>
          <p:cNvSpPr txBox="1"/>
          <p:nvPr/>
        </p:nvSpPr>
        <p:spPr>
          <a:xfrm>
            <a:off x="786384" y="4681728"/>
            <a:ext cx="5285232" cy="969264"/>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providers: [</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  { provide: APP_GUARD, useClass: JwtAuthGuard },</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  { provide: APP_GUARD, useClass: RolesGuard },</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sp>
        <p:nvSpPr>
          <p:cNvPr id="31" name="Shape 29"/>
          <p:cNvSpPr/>
          <p:nvPr/>
        </p:nvSpPr>
        <p:spPr>
          <a:xfrm>
            <a:off x="6492240" y="3246120"/>
            <a:ext cx="5029200" cy="2514600"/>
          </a:xfrm>
          <a:prstGeom prst="roundRect">
            <a:avLst>
              <a:gd name="adj" fmla="val 2909"/>
            </a:avLst>
          </a:prstGeom>
          <a:solidFill>
            <a:srgbClr val="F7F9FE"/>
          </a:solidFill>
          <a:ln w="12700">
            <a:solidFill>
              <a:srgbClr val="DDE3F5"/>
            </a:solidFill>
            <a:prstDash val="solid"/>
          </a:ln>
        </p:spPr>
      </p:sp>
      <p:sp>
        <p:nvSpPr>
          <p:cNvPr id="32" name="Text 30"/>
          <p:cNvSpPr txBox="1"/>
          <p:nvPr/>
        </p:nvSpPr>
        <p:spPr>
          <a:xfrm>
            <a:off x="6784848" y="3438144"/>
            <a:ext cx="448056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Six feature modules</a:t>
            </a:r>
            <a:endParaRPr lang="en-US" sz="1700" dirty="0"/>
          </a:p>
        </p:txBody>
      </p:sp>
      <p:sp>
        <p:nvSpPr>
          <p:cNvPr id="33" name="Text 31"/>
          <p:cNvSpPr txBox="1"/>
          <p:nvPr/>
        </p:nvSpPr>
        <p:spPr>
          <a:xfrm>
            <a:off x="6784848" y="3840480"/>
            <a:ext cx="4434840" cy="178308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auth - register, login, JWT strategy</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users - profile, roster, password change</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projects - category CRUD</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reports - drafts, submission, review, history</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ai - assistant endpoint</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prisma + common - DB module, guards, decorators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DATABASE DESIGN</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Nine models, three enums</a:t>
            </a:r>
            <a:endParaRPr lang="en-US" sz="3200" dirty="0"/>
          </a:p>
        </p:txBody>
      </p:sp>
      <p:sp>
        <p:nvSpPr>
          <p:cNvPr id="4" name="Shape 2"/>
          <p:cNvSpPr/>
          <p:nvPr/>
        </p:nvSpPr>
        <p:spPr>
          <a:xfrm>
            <a:off x="640080" y="1463040"/>
            <a:ext cx="5257800" cy="1298448"/>
          </a:xfrm>
          <a:prstGeom prst="roundRect">
            <a:avLst>
              <a:gd name="adj" fmla="val 5634"/>
            </a:avLst>
          </a:prstGeom>
          <a:solidFill>
            <a:srgbClr val="F7F9FE"/>
          </a:solidFill>
          <a:ln w="12700">
            <a:solidFill>
              <a:srgbClr val="DDE3F5"/>
            </a:solidFill>
            <a:prstDash val="solid"/>
          </a:ln>
        </p:spPr>
      </p:sp>
      <p:sp>
        <p:nvSpPr>
          <p:cNvPr id="5" name="Shape 3"/>
          <p:cNvSpPr/>
          <p:nvPr/>
        </p:nvSpPr>
        <p:spPr>
          <a:xfrm>
            <a:off x="914400" y="1700784"/>
            <a:ext cx="402336" cy="402336"/>
          </a:xfrm>
          <a:prstGeom prst="ellipse">
            <a:avLst/>
          </a:prstGeom>
          <a:solidFill>
            <a:srgbClr val="1E2761"/>
          </a:solidFill>
          <a:ln/>
        </p:spPr>
      </p:sp>
      <p:sp>
        <p:nvSpPr>
          <p:cNvPr id="6" name="Text 4"/>
          <p:cNvSpPr txBox="1"/>
          <p:nvPr/>
        </p:nvSpPr>
        <p:spPr>
          <a:xfrm>
            <a:off x="914400"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81328" y="1664208"/>
            <a:ext cx="4114800" cy="347472"/>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Identity</a:t>
            </a:r>
            <a:endParaRPr lang="en-US" sz="1600" dirty="0"/>
          </a:p>
        </p:txBody>
      </p:sp>
      <p:sp>
        <p:nvSpPr>
          <p:cNvPr id="8" name="Text 6"/>
          <p:cNvSpPr txBox="1"/>
          <p:nvPr/>
        </p:nvSpPr>
        <p:spPr>
          <a:xfrm>
            <a:off x="1481328" y="2066544"/>
            <a:ext cx="4206240" cy="621792"/>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User - role, email, passwordHash</a:t>
            </a:r>
            <a:endParaRPr lang="en-US" sz="1150" dirty="0"/>
          </a:p>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Project - two M:N links to User</a:t>
            </a:r>
            <a:endParaRPr lang="en-US" sz="1150" dirty="0"/>
          </a:p>
        </p:txBody>
      </p:sp>
      <p:sp>
        <p:nvSpPr>
          <p:cNvPr id="9" name="Shape 7"/>
          <p:cNvSpPr/>
          <p:nvPr/>
        </p:nvSpPr>
        <p:spPr>
          <a:xfrm>
            <a:off x="6263640" y="1463040"/>
            <a:ext cx="5257800" cy="1298448"/>
          </a:xfrm>
          <a:prstGeom prst="roundRect">
            <a:avLst>
              <a:gd name="adj" fmla="val 5634"/>
            </a:avLst>
          </a:prstGeom>
          <a:solidFill>
            <a:srgbClr val="F7F9FE"/>
          </a:solidFill>
          <a:ln w="12700">
            <a:solidFill>
              <a:srgbClr val="DDE3F5"/>
            </a:solidFill>
            <a:prstDash val="solid"/>
          </a:ln>
        </p:spPr>
      </p:sp>
      <p:sp>
        <p:nvSpPr>
          <p:cNvPr id="10" name="Shape 8"/>
          <p:cNvSpPr/>
          <p:nvPr/>
        </p:nvSpPr>
        <p:spPr>
          <a:xfrm>
            <a:off x="6537960" y="1700784"/>
            <a:ext cx="402336" cy="402336"/>
          </a:xfrm>
          <a:prstGeom prst="ellipse">
            <a:avLst/>
          </a:prstGeom>
          <a:solidFill>
            <a:srgbClr val="1F7A5A"/>
          </a:solidFill>
          <a:ln/>
        </p:spPr>
      </p:sp>
      <p:sp>
        <p:nvSpPr>
          <p:cNvPr id="11" name="Text 9"/>
          <p:cNvSpPr txBox="1"/>
          <p:nvPr/>
        </p:nvSpPr>
        <p:spPr>
          <a:xfrm>
            <a:off x="6537960"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104888" y="1664208"/>
            <a:ext cx="4114800" cy="347472"/>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Report core</a:t>
            </a:r>
            <a:endParaRPr lang="en-US" sz="1600" dirty="0"/>
          </a:p>
        </p:txBody>
      </p:sp>
      <p:sp>
        <p:nvSpPr>
          <p:cNvPr id="13" name="Text 11"/>
          <p:cNvSpPr txBox="1"/>
          <p:nvPr/>
        </p:nvSpPr>
        <p:spPr>
          <a:xfrm>
            <a:off x="7104888" y="2066544"/>
            <a:ext cx="4206240" cy="621792"/>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Report - identity + current status</a:t>
            </a:r>
            <a:endParaRPr lang="en-US" sz="1150" dirty="0"/>
          </a:p>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ReportVersion - content snapshot</a:t>
            </a:r>
            <a:endParaRPr lang="en-US" sz="1150" dirty="0"/>
          </a:p>
        </p:txBody>
      </p:sp>
      <p:sp>
        <p:nvSpPr>
          <p:cNvPr id="14" name="Shape 12"/>
          <p:cNvSpPr/>
          <p:nvPr/>
        </p:nvSpPr>
        <p:spPr>
          <a:xfrm>
            <a:off x="640080" y="2944368"/>
            <a:ext cx="5257800" cy="1298448"/>
          </a:xfrm>
          <a:prstGeom prst="roundRect">
            <a:avLst>
              <a:gd name="adj" fmla="val 5634"/>
            </a:avLst>
          </a:prstGeom>
          <a:solidFill>
            <a:srgbClr val="F7F9FE"/>
          </a:solidFill>
          <a:ln w="12700">
            <a:solidFill>
              <a:srgbClr val="DDE3F5"/>
            </a:solidFill>
            <a:prstDash val="solid"/>
          </a:ln>
        </p:spPr>
      </p:sp>
      <p:sp>
        <p:nvSpPr>
          <p:cNvPr id="15" name="Shape 13"/>
          <p:cNvSpPr/>
          <p:nvPr/>
        </p:nvSpPr>
        <p:spPr>
          <a:xfrm>
            <a:off x="914400" y="3182112"/>
            <a:ext cx="402336" cy="402336"/>
          </a:xfrm>
          <a:prstGeom prst="ellipse">
            <a:avLst/>
          </a:prstGeom>
          <a:solidFill>
            <a:srgbClr val="B4741C"/>
          </a:solidFill>
          <a:ln/>
        </p:spPr>
      </p:sp>
      <p:sp>
        <p:nvSpPr>
          <p:cNvPr id="16" name="Text 14"/>
          <p:cNvSpPr txBox="1"/>
          <p:nvPr/>
        </p:nvSpPr>
        <p:spPr>
          <a:xfrm>
            <a:off x="914400" y="31821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81328" y="3145536"/>
            <a:ext cx="4114800" cy="347472"/>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Version children</a:t>
            </a:r>
            <a:endParaRPr lang="en-US" sz="1600" dirty="0"/>
          </a:p>
        </p:txBody>
      </p:sp>
      <p:sp>
        <p:nvSpPr>
          <p:cNvPr id="18" name="Text 16"/>
          <p:cNvSpPr txBox="1"/>
          <p:nvPr/>
        </p:nvSpPr>
        <p:spPr>
          <a:xfrm>
            <a:off x="1481328" y="3547872"/>
            <a:ext cx="4206240" cy="621792"/>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TaskCompleted | Blocker</a:t>
            </a:r>
            <a:endParaRPr lang="en-US" sz="1150" dirty="0"/>
          </a:p>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Achievement | HoursWorked</a:t>
            </a:r>
            <a:endParaRPr lang="en-US" sz="1150" dirty="0"/>
          </a:p>
        </p:txBody>
      </p:sp>
      <p:sp>
        <p:nvSpPr>
          <p:cNvPr id="19" name="Shape 17"/>
          <p:cNvSpPr/>
          <p:nvPr/>
        </p:nvSpPr>
        <p:spPr>
          <a:xfrm>
            <a:off x="6263640" y="2944368"/>
            <a:ext cx="5257800" cy="1298448"/>
          </a:xfrm>
          <a:prstGeom prst="roundRect">
            <a:avLst>
              <a:gd name="adj" fmla="val 5634"/>
            </a:avLst>
          </a:prstGeom>
          <a:solidFill>
            <a:srgbClr val="F7F9FE"/>
          </a:solidFill>
          <a:ln w="12700">
            <a:solidFill>
              <a:srgbClr val="DDE3F5"/>
            </a:solidFill>
            <a:prstDash val="solid"/>
          </a:ln>
        </p:spPr>
      </p:sp>
      <p:sp>
        <p:nvSpPr>
          <p:cNvPr id="20" name="Shape 18"/>
          <p:cNvSpPr/>
          <p:nvPr/>
        </p:nvSpPr>
        <p:spPr>
          <a:xfrm>
            <a:off x="6537960" y="3182112"/>
            <a:ext cx="402336" cy="402336"/>
          </a:xfrm>
          <a:prstGeom prst="ellipse">
            <a:avLst/>
          </a:prstGeom>
          <a:solidFill>
            <a:srgbClr val="9B2C3B"/>
          </a:solidFill>
          <a:ln/>
        </p:spPr>
      </p:sp>
      <p:sp>
        <p:nvSpPr>
          <p:cNvPr id="21" name="Text 19"/>
          <p:cNvSpPr txBox="1"/>
          <p:nvPr/>
        </p:nvSpPr>
        <p:spPr>
          <a:xfrm>
            <a:off x="6537960" y="31821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104888" y="3145536"/>
            <a:ext cx="4114800" cy="347472"/>
          </a:xfrm>
          <a:prstGeom prst="rect">
            <a:avLst/>
          </a:prstGeom>
          <a:noFill/>
          <a:ln/>
        </p:spPr>
        <p:txBody>
          <a:bodyPr wrap="square" lIns="0" tIns="0" rIns="0" bIns="0" rtlCol="0" anchor="ctr"/>
          <a:lstStyle/>
          <a:p>
            <a:pPr indent="0" marL="0">
              <a:buNone/>
            </a:pPr>
            <a:r>
              <a:rPr lang="en-US" sz="1600" b="1" dirty="0">
                <a:solidFill>
                  <a:srgbClr val="1B1F3B"/>
                </a:solidFill>
                <a:latin typeface="Cambria" pitchFamily="34" charset="0"/>
                <a:ea typeface="Cambria" pitchFamily="34" charset="-122"/>
                <a:cs typeface="Cambria" pitchFamily="34" charset="-120"/>
              </a:rPr>
              <a:t>Review</a:t>
            </a:r>
            <a:endParaRPr lang="en-US" sz="1600" dirty="0"/>
          </a:p>
        </p:txBody>
      </p:sp>
      <p:sp>
        <p:nvSpPr>
          <p:cNvPr id="23" name="Text 21"/>
          <p:cNvSpPr txBox="1"/>
          <p:nvPr/>
        </p:nvSpPr>
        <p:spPr>
          <a:xfrm>
            <a:off x="7104888" y="3547872"/>
            <a:ext cx="4206240" cy="621792"/>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ReviewComment - comment + action,</a:t>
            </a:r>
            <a:endParaRPr lang="en-US" sz="1150" dirty="0"/>
          </a:p>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bound to report AND version</a:t>
            </a:r>
            <a:endParaRPr lang="en-US" sz="1150" dirty="0"/>
          </a:p>
        </p:txBody>
      </p:sp>
      <p:sp>
        <p:nvSpPr>
          <p:cNvPr id="24" name="Text 22"/>
          <p:cNvSpPr txBox="1"/>
          <p:nvPr/>
        </p:nvSpPr>
        <p:spPr>
          <a:xfrm>
            <a:off x="640080" y="4590288"/>
            <a:ext cx="1088136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The database enforces one report per person per week</a:t>
            </a:r>
            <a:endParaRPr lang="en-US" sz="1700" dirty="0"/>
          </a:p>
        </p:txBody>
      </p:sp>
      <p:sp>
        <p:nvSpPr>
          <p:cNvPr id="25" name="Text 23"/>
          <p:cNvSpPr txBox="1"/>
          <p:nvPr/>
        </p:nvSpPr>
        <p:spPr>
          <a:xfrm>
            <a:off x="640080" y="4956048"/>
            <a:ext cx="6400800" cy="1005840"/>
          </a:xfrm>
          <a:prstGeom prst="rect">
            <a:avLst/>
          </a:prstGeom>
          <a:noFill/>
          <a:ln/>
        </p:spPr>
        <p:txBody>
          <a:bodyPr wrap="square" lIns="0" tIns="0" rIns="0" bIns="0" rtlCol="0" anchor="ctr"/>
          <a:lstStyle/>
          <a:p>
            <a:pPr indent="0" marL="0">
              <a:lnSpc>
                <a:spcPct val="115000"/>
              </a:lnSpc>
              <a:buNone/>
            </a:pPr>
            <a:r>
              <a:rPr lang="en-US" sz="1300" dirty="0">
                <a:solidFill>
                  <a:srgbClr val="3F4665"/>
                </a:solidFill>
                <a:latin typeface="Calibri" pitchFamily="34" charset="0"/>
                <a:ea typeface="Calibri" pitchFamily="34" charset="-122"/>
                <a:cs typeface="Calibri" pitchFamily="34" charset="-120"/>
              </a:rPr>
              <a:t>An application-level check alone would race under concurrent submits. A composite unique constraint makes it an invariant, and the service catches the resulting P2002 to return a readable 409 instead of a stack trace.</a:t>
            </a:r>
            <a:endParaRPr lang="en-US" sz="1300" dirty="0"/>
          </a:p>
        </p:txBody>
      </p:sp>
      <p:sp>
        <p:nvSpPr>
          <p:cNvPr id="26" name="Shape 24"/>
          <p:cNvSpPr/>
          <p:nvPr/>
        </p:nvSpPr>
        <p:spPr>
          <a:xfrm>
            <a:off x="7269480" y="5029200"/>
            <a:ext cx="4251960" cy="502920"/>
          </a:xfrm>
          <a:prstGeom prst="roundRect">
            <a:avLst>
              <a:gd name="adj" fmla="val 10909"/>
            </a:avLst>
          </a:prstGeom>
          <a:solidFill>
            <a:srgbClr val="141A45"/>
          </a:solidFill>
          <a:ln w="12700">
            <a:solidFill>
              <a:srgbClr val="141A45"/>
            </a:solidFill>
            <a:prstDash val="solid"/>
          </a:ln>
        </p:spPr>
      </p:sp>
      <p:sp>
        <p:nvSpPr>
          <p:cNvPr id="27" name="Text 25"/>
          <p:cNvSpPr txBox="1"/>
          <p:nvPr/>
        </p:nvSpPr>
        <p:spPr>
          <a:xfrm>
            <a:off x="7415784" y="5138928"/>
            <a:ext cx="3959352" cy="283464"/>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@@unique([userId, weekStart])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KEY DESIGN DECISION</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Why Report and ReportVersion are separate</a:t>
            </a:r>
            <a:endParaRPr lang="en-US" sz="3200" dirty="0"/>
          </a:p>
        </p:txBody>
      </p:sp>
      <p:sp>
        <p:nvSpPr>
          <p:cNvPr id="4" name="Shape 2"/>
          <p:cNvSpPr/>
          <p:nvPr/>
        </p:nvSpPr>
        <p:spPr>
          <a:xfrm>
            <a:off x="640080" y="1463040"/>
            <a:ext cx="5257800" cy="1417320"/>
          </a:xfrm>
          <a:prstGeom prst="roundRect">
            <a:avLst>
              <a:gd name="adj" fmla="val 5161"/>
            </a:avLst>
          </a:prstGeom>
          <a:solidFill>
            <a:srgbClr val="FBECEE"/>
          </a:solidFill>
          <a:ln w="12700">
            <a:solidFill>
              <a:srgbClr val="DDE3F5"/>
            </a:solidFill>
            <a:prstDash val="solid"/>
          </a:ln>
        </p:spPr>
      </p:sp>
      <p:sp>
        <p:nvSpPr>
          <p:cNvPr id="5" name="Text 3"/>
          <p:cNvSpPr txBox="1"/>
          <p:nvPr/>
        </p:nvSpPr>
        <p:spPr>
          <a:xfrm>
            <a:off x="932688" y="1627632"/>
            <a:ext cx="4663440" cy="329184"/>
          </a:xfrm>
          <a:prstGeom prst="rect">
            <a:avLst/>
          </a:prstGeom>
          <a:noFill/>
          <a:ln/>
        </p:spPr>
        <p:txBody>
          <a:bodyPr wrap="square" lIns="0" tIns="0" rIns="0" bIns="0" rtlCol="0" anchor="ctr"/>
          <a:lstStyle/>
          <a:p>
            <a:pPr indent="0" marL="0">
              <a:buNone/>
            </a:pPr>
            <a:r>
              <a:rPr lang="en-US" sz="1600" b="1" dirty="0">
                <a:solidFill>
                  <a:srgbClr val="9B2C3B"/>
                </a:solidFill>
                <a:latin typeface="Cambria" pitchFamily="34" charset="0"/>
                <a:ea typeface="Cambria" pitchFamily="34" charset="-122"/>
                <a:cs typeface="Cambria" pitchFamily="34" charset="-120"/>
              </a:rPr>
              <a:t>Rejected: one table</a:t>
            </a:r>
            <a:endParaRPr lang="en-US" sz="1600" dirty="0"/>
          </a:p>
        </p:txBody>
      </p:sp>
      <p:sp>
        <p:nvSpPr>
          <p:cNvPr id="6" name="Text 4"/>
          <p:cNvSpPr txBox="1"/>
          <p:nvPr/>
        </p:nvSpPr>
        <p:spPr>
          <a:xfrm>
            <a:off x="932688" y="1993392"/>
            <a:ext cx="4663440" cy="77724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Editing a report overwrites its content. The previous version is gone, so a manager can never see what actually changed after their feedback.</a:t>
            </a:r>
            <a:endParaRPr lang="en-US" sz="1250" dirty="0"/>
          </a:p>
        </p:txBody>
      </p:sp>
      <p:sp>
        <p:nvSpPr>
          <p:cNvPr id="7" name="Shape 5"/>
          <p:cNvSpPr/>
          <p:nvPr/>
        </p:nvSpPr>
        <p:spPr>
          <a:xfrm>
            <a:off x="6263640" y="1463040"/>
            <a:ext cx="5257800" cy="1417320"/>
          </a:xfrm>
          <a:prstGeom prst="roundRect">
            <a:avLst>
              <a:gd name="adj" fmla="val 5161"/>
            </a:avLst>
          </a:prstGeom>
          <a:solidFill>
            <a:srgbClr val="EAF5F0"/>
          </a:solidFill>
          <a:ln w="12700">
            <a:solidFill>
              <a:srgbClr val="DDE3F5"/>
            </a:solidFill>
            <a:prstDash val="solid"/>
          </a:ln>
        </p:spPr>
      </p:sp>
      <p:sp>
        <p:nvSpPr>
          <p:cNvPr id="8" name="Text 6"/>
          <p:cNvSpPr txBox="1"/>
          <p:nvPr/>
        </p:nvSpPr>
        <p:spPr>
          <a:xfrm>
            <a:off x="6556248" y="1627632"/>
            <a:ext cx="4663440" cy="329184"/>
          </a:xfrm>
          <a:prstGeom prst="rect">
            <a:avLst/>
          </a:prstGeom>
          <a:noFill/>
          <a:ln/>
        </p:spPr>
        <p:txBody>
          <a:bodyPr wrap="square" lIns="0" tIns="0" rIns="0" bIns="0" rtlCol="0" anchor="ctr"/>
          <a:lstStyle/>
          <a:p>
            <a:pPr indent="0" marL="0">
              <a:buNone/>
            </a:pPr>
            <a:r>
              <a:rPr lang="en-US" sz="1600" b="1" dirty="0">
                <a:solidFill>
                  <a:srgbClr val="1F7A5A"/>
                </a:solidFill>
                <a:latin typeface="Cambria" pitchFamily="34" charset="0"/>
                <a:ea typeface="Cambria" pitchFamily="34" charset="-122"/>
                <a:cs typeface="Cambria" pitchFamily="34" charset="-120"/>
              </a:rPr>
              <a:t>Chosen: identity + snapshots</a:t>
            </a:r>
            <a:endParaRPr lang="en-US" sz="1600" dirty="0"/>
          </a:p>
        </p:txBody>
      </p:sp>
      <p:sp>
        <p:nvSpPr>
          <p:cNvPr id="9" name="Text 7"/>
          <p:cNvSpPr txBox="1"/>
          <p:nvPr/>
        </p:nvSpPr>
        <p:spPr>
          <a:xfrm>
            <a:off x="6556248" y="1993392"/>
            <a:ext cx="4663440" cy="77724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Report holds identity and current status. Each correction cycle appends a new immutable ReportVersion, so history is a side effect of the schema.</a:t>
            </a:r>
            <a:endParaRPr lang="en-US" sz="1250" dirty="0"/>
          </a:p>
        </p:txBody>
      </p:sp>
      <p:sp>
        <p:nvSpPr>
          <p:cNvPr id="10" name="Text 8"/>
          <p:cNvSpPr txBox="1"/>
          <p:nvPr/>
        </p:nvSpPr>
        <p:spPr>
          <a:xfrm>
            <a:off x="640080" y="3035808"/>
            <a:ext cx="548640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What that buys</a:t>
            </a:r>
            <a:endParaRPr lang="en-US" sz="1700" dirty="0"/>
          </a:p>
        </p:txBody>
      </p:sp>
      <p:sp>
        <p:nvSpPr>
          <p:cNvPr id="11" name="Text 9"/>
          <p:cNvSpPr txBox="1"/>
          <p:nvPr/>
        </p:nvSpPr>
        <p:spPr>
          <a:xfrm>
            <a:off x="640080" y="3401568"/>
            <a:ext cx="10881360" cy="155448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Every past version stays readable, with its submission timestamp</a:t>
            </a:r>
            <a:endParaRPr lang="en-US" sz="1350" dirty="0"/>
          </a:p>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Task, blocker, achievement and hours rows hang off the version - each version is a complete snapshot</a:t>
            </a:r>
            <a:endParaRPr lang="en-US" sz="1350" dirty="0"/>
          </a:p>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ReviewComment stores both reportId and reportVersionId, so the UI shows which version a comment answered</a:t>
            </a:r>
            <a:endParaRPr lang="en-US" sz="1350" dirty="0"/>
          </a:p>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No diff engine needed - the assignment asks only for a list of past versions on demand</a:t>
            </a:r>
            <a:endParaRPr lang="en-US" sz="1350" dirty="0"/>
          </a:p>
        </p:txBody>
      </p:sp>
      <p:sp>
        <p:nvSpPr>
          <p:cNvPr id="12" name="Shape 10"/>
          <p:cNvSpPr/>
          <p:nvPr/>
        </p:nvSpPr>
        <p:spPr>
          <a:xfrm>
            <a:off x="640080" y="5074920"/>
            <a:ext cx="10881360" cy="1051560"/>
          </a:xfrm>
          <a:prstGeom prst="roundRect">
            <a:avLst>
              <a:gd name="adj" fmla="val 5217"/>
            </a:avLst>
          </a:prstGeom>
          <a:solidFill>
            <a:srgbClr val="141A45"/>
          </a:solidFill>
          <a:ln w="12700">
            <a:solidFill>
              <a:srgbClr val="141A45"/>
            </a:solidFill>
            <a:prstDash val="solid"/>
          </a:ln>
        </p:spPr>
      </p:sp>
      <p:sp>
        <p:nvSpPr>
          <p:cNvPr id="13" name="Text 11"/>
          <p:cNvSpPr txBox="1"/>
          <p:nvPr/>
        </p:nvSpPr>
        <p:spPr>
          <a:xfrm>
            <a:off x="786384" y="5184648"/>
            <a:ext cx="10588752" cy="832104"/>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Report --+-- ReportVersion v1 ---- ReviewComment (REQUESTED_CHANGES)</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         +-- ReportVersion v2 ---- ReviewComment (APPROVED)</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         +-- status: APPROVED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SECURITY</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Two layers of authorization</a:t>
            </a:r>
            <a:endParaRPr lang="en-US" sz="3200" dirty="0"/>
          </a:p>
        </p:txBody>
      </p:sp>
      <p:sp>
        <p:nvSpPr>
          <p:cNvPr id="4" name="Shape 2"/>
          <p:cNvSpPr/>
          <p:nvPr/>
        </p:nvSpPr>
        <p:spPr>
          <a:xfrm>
            <a:off x="640080" y="1463040"/>
            <a:ext cx="5257800" cy="3063240"/>
          </a:xfrm>
          <a:prstGeom prst="roundRect">
            <a:avLst>
              <a:gd name="adj" fmla="val 2388"/>
            </a:avLst>
          </a:prstGeom>
          <a:solidFill>
            <a:srgbClr val="F7F9FE"/>
          </a:solidFill>
          <a:ln w="12700">
            <a:solidFill>
              <a:srgbClr val="DDE3F5"/>
            </a:solidFill>
            <a:prstDash val="solid"/>
          </a:ln>
        </p:spPr>
      </p:sp>
      <p:sp>
        <p:nvSpPr>
          <p:cNvPr id="5" name="Shape 3"/>
          <p:cNvSpPr/>
          <p:nvPr/>
        </p:nvSpPr>
        <p:spPr>
          <a:xfrm>
            <a:off x="932688" y="1737360"/>
            <a:ext cx="457200" cy="457200"/>
          </a:xfrm>
          <a:prstGeom prst="ellipse">
            <a:avLst/>
          </a:prstGeom>
          <a:solidFill>
            <a:srgbClr val="9B2C3B"/>
          </a:solidFill>
          <a:ln/>
        </p:spPr>
      </p:sp>
      <p:sp>
        <p:nvSpPr>
          <p:cNvPr id="6" name="Text 4"/>
          <p:cNvSpPr txBox="1"/>
          <p:nvPr/>
        </p:nvSpPr>
        <p:spPr>
          <a:xfrm>
            <a:off x="932688" y="1737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554480" y="1764792"/>
            <a:ext cx="4023360" cy="365760"/>
          </a:xfrm>
          <a:prstGeom prst="rect">
            <a:avLst/>
          </a:prstGeom>
          <a:noFill/>
          <a:ln/>
        </p:spPr>
        <p:txBody>
          <a:bodyPr wrap="square" lIns="0" tIns="0" rIns="0" bIns="0" rtlCol="0" anchor="ctr"/>
          <a:lstStyle/>
          <a:p>
            <a:pPr indent="0" marL="0">
              <a:buNone/>
            </a:pPr>
            <a:r>
              <a:rPr lang="en-US" sz="1800" b="1" dirty="0">
                <a:solidFill>
                  <a:srgbClr val="1B1F3B"/>
                </a:solidFill>
                <a:latin typeface="Cambria" pitchFamily="34" charset="0"/>
                <a:ea typeface="Cambria" pitchFamily="34" charset="-122"/>
                <a:cs typeface="Cambria" pitchFamily="34" charset="-120"/>
              </a:rPr>
              <a:t>Route level</a:t>
            </a:r>
            <a:endParaRPr lang="en-US" sz="1800" dirty="0"/>
          </a:p>
        </p:txBody>
      </p:sp>
      <p:sp>
        <p:nvSpPr>
          <p:cNvPr id="8" name="Text 6"/>
          <p:cNvSpPr txBox="1"/>
          <p:nvPr/>
        </p:nvSpPr>
        <p:spPr>
          <a:xfrm>
            <a:off x="932688" y="2340864"/>
            <a:ext cx="4663440" cy="100584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@Roles('MANAGER') on manager-only endpoints. RolesGuard reads the metadata and rejects a TEAM_MEMBER before the handler runs.</a:t>
            </a:r>
            <a:endParaRPr lang="en-US" sz="1250" dirty="0"/>
          </a:p>
        </p:txBody>
      </p:sp>
      <p:sp>
        <p:nvSpPr>
          <p:cNvPr id="9" name="Shape 7"/>
          <p:cNvSpPr/>
          <p:nvPr/>
        </p:nvSpPr>
        <p:spPr>
          <a:xfrm>
            <a:off x="932688" y="3383280"/>
            <a:ext cx="4663440" cy="868680"/>
          </a:xfrm>
          <a:prstGeom prst="roundRect">
            <a:avLst>
              <a:gd name="adj" fmla="val 6316"/>
            </a:avLst>
          </a:prstGeom>
          <a:solidFill>
            <a:srgbClr val="141A45"/>
          </a:solidFill>
          <a:ln w="12700">
            <a:solidFill>
              <a:srgbClr val="141A45"/>
            </a:solidFill>
            <a:prstDash val="solid"/>
          </a:ln>
        </p:spPr>
      </p:sp>
      <p:sp>
        <p:nvSpPr>
          <p:cNvPr id="10" name="Text 8"/>
          <p:cNvSpPr txBox="1"/>
          <p:nvPr/>
        </p:nvSpPr>
        <p:spPr>
          <a:xfrm>
            <a:off x="1078992" y="3493008"/>
            <a:ext cx="4370832" cy="649224"/>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@Get()</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@Roles('MANAGER')</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getAllReports(...)</a:t>
            </a:r>
            <a:endParaRPr lang="en-US" sz="1150" dirty="0"/>
          </a:p>
        </p:txBody>
      </p:sp>
      <p:sp>
        <p:nvSpPr>
          <p:cNvPr id="11" name="Shape 9"/>
          <p:cNvSpPr/>
          <p:nvPr/>
        </p:nvSpPr>
        <p:spPr>
          <a:xfrm>
            <a:off x="6263640" y="1463040"/>
            <a:ext cx="5257800" cy="3063240"/>
          </a:xfrm>
          <a:prstGeom prst="roundRect">
            <a:avLst>
              <a:gd name="adj" fmla="val 2388"/>
            </a:avLst>
          </a:prstGeom>
          <a:solidFill>
            <a:srgbClr val="F7F9FE"/>
          </a:solidFill>
          <a:ln w="12700">
            <a:solidFill>
              <a:srgbClr val="DDE3F5"/>
            </a:solidFill>
            <a:prstDash val="solid"/>
          </a:ln>
        </p:spPr>
      </p:sp>
      <p:sp>
        <p:nvSpPr>
          <p:cNvPr id="12" name="Shape 10"/>
          <p:cNvSpPr/>
          <p:nvPr/>
        </p:nvSpPr>
        <p:spPr>
          <a:xfrm>
            <a:off x="6556248" y="1737360"/>
            <a:ext cx="457200" cy="457200"/>
          </a:xfrm>
          <a:prstGeom prst="ellipse">
            <a:avLst/>
          </a:prstGeom>
          <a:solidFill>
            <a:srgbClr val="1F7A5A"/>
          </a:solidFill>
          <a:ln/>
        </p:spPr>
      </p:sp>
      <p:sp>
        <p:nvSpPr>
          <p:cNvPr id="13" name="Text 11"/>
          <p:cNvSpPr txBox="1"/>
          <p:nvPr/>
        </p:nvSpPr>
        <p:spPr>
          <a:xfrm>
            <a:off x="6556248" y="1737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78040" y="1764792"/>
            <a:ext cx="4023360" cy="365760"/>
          </a:xfrm>
          <a:prstGeom prst="rect">
            <a:avLst/>
          </a:prstGeom>
          <a:noFill/>
          <a:ln/>
        </p:spPr>
        <p:txBody>
          <a:bodyPr wrap="square" lIns="0" tIns="0" rIns="0" bIns="0" rtlCol="0" anchor="ctr"/>
          <a:lstStyle/>
          <a:p>
            <a:pPr indent="0" marL="0">
              <a:buNone/>
            </a:pPr>
            <a:r>
              <a:rPr lang="en-US" sz="1800" b="1" dirty="0">
                <a:solidFill>
                  <a:srgbClr val="1B1F3B"/>
                </a:solidFill>
                <a:latin typeface="Cambria" pitchFamily="34" charset="0"/>
                <a:ea typeface="Cambria" pitchFamily="34" charset="-122"/>
                <a:cs typeface="Cambria" pitchFamily="34" charset="-120"/>
              </a:rPr>
              <a:t>Record level</a:t>
            </a:r>
            <a:endParaRPr lang="en-US" sz="1800" dirty="0"/>
          </a:p>
        </p:txBody>
      </p:sp>
      <p:sp>
        <p:nvSpPr>
          <p:cNvPr id="15" name="Text 13"/>
          <p:cNvSpPr txBox="1"/>
          <p:nvPr/>
        </p:nvSpPr>
        <p:spPr>
          <a:xfrm>
            <a:off x="6556248" y="2340864"/>
            <a:ext cx="4663440" cy="100584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Route access is not row access. Services compare the report's owner against the caller and throw ForbiddenException on a mismatch.</a:t>
            </a:r>
            <a:endParaRPr lang="en-US" sz="1250" dirty="0"/>
          </a:p>
        </p:txBody>
      </p:sp>
      <p:sp>
        <p:nvSpPr>
          <p:cNvPr id="16" name="Shape 14"/>
          <p:cNvSpPr/>
          <p:nvPr/>
        </p:nvSpPr>
        <p:spPr>
          <a:xfrm>
            <a:off x="6556248" y="3383280"/>
            <a:ext cx="4663440" cy="868680"/>
          </a:xfrm>
          <a:prstGeom prst="roundRect">
            <a:avLst>
              <a:gd name="adj" fmla="val 6316"/>
            </a:avLst>
          </a:prstGeom>
          <a:solidFill>
            <a:srgbClr val="141A45"/>
          </a:solidFill>
          <a:ln w="12700">
            <a:solidFill>
              <a:srgbClr val="141A45"/>
            </a:solidFill>
            <a:prstDash val="solid"/>
          </a:ln>
        </p:spPr>
      </p:sp>
      <p:sp>
        <p:nvSpPr>
          <p:cNvPr id="17" name="Text 15"/>
          <p:cNvSpPr txBox="1"/>
          <p:nvPr/>
        </p:nvSpPr>
        <p:spPr>
          <a:xfrm>
            <a:off x="6702552" y="3493008"/>
            <a:ext cx="4370832" cy="649224"/>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if (report.userId !== userId)</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  throw new ForbiddenException();</a:t>
            </a:r>
            <a:endParaRPr lang="en-US" sz="1150" dirty="0"/>
          </a:p>
        </p:txBody>
      </p:sp>
      <p:sp>
        <p:nvSpPr>
          <p:cNvPr id="18" name="Text 16"/>
          <p:cNvSpPr txBox="1"/>
          <p:nvPr/>
        </p:nvSpPr>
        <p:spPr>
          <a:xfrm>
            <a:off x="640080" y="4773168"/>
            <a:ext cx="548640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Why both are needed</a:t>
            </a:r>
            <a:endParaRPr lang="en-US" sz="1700" dirty="0"/>
          </a:p>
        </p:txBody>
      </p:sp>
      <p:sp>
        <p:nvSpPr>
          <p:cNvPr id="19" name="Text 17"/>
          <p:cNvSpPr txBox="1"/>
          <p:nvPr/>
        </p:nvSpPr>
        <p:spPr>
          <a:xfrm>
            <a:off x="640080" y="5138928"/>
            <a:ext cx="10881360" cy="1005840"/>
          </a:xfrm>
          <a:prstGeom prst="rect">
            <a:avLst/>
          </a:prstGeom>
          <a:noFill/>
          <a:ln/>
        </p:spPr>
        <p:txBody>
          <a:bodyPr wrap="square" lIns="0" tIns="0" rIns="0" bIns="0" rtlCol="0" anchor="ctr"/>
          <a:lstStyle/>
          <a:p>
            <a:pPr indent="0" marL="0">
              <a:lnSpc>
                <a:spcPct val="115000"/>
              </a:lnSpc>
              <a:buNone/>
            </a:pPr>
            <a:r>
              <a:rPr lang="en-US" sz="1350" dirty="0">
                <a:solidFill>
                  <a:srgbClr val="3F4665"/>
                </a:solidFill>
                <a:latin typeface="Calibri" pitchFamily="34" charset="0"/>
                <a:ea typeface="Calibri" pitchFamily="34" charset="-122"/>
                <a:cs typeface="Calibri" pitchFamily="34" charset="-120"/>
              </a:rPr>
              <a:t>Route guards stop privilege escalation between roles. They do nothing about escalation within a role - one team member requesting another member's report ID on an endpoint both are allowed to call. Passwords are hashed with bcrypt; sessions are stateless JWTs signed server-side.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API DESIGN</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REST surface, grouped by who may call it</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914400"/>
        </p:xfrm>
        <a:graphic>
          <a:graphicData uri="http://schemas.openxmlformats.org/drawingml/2006/table">
            <a:tbl>
              <a:tblPr/>
              <a:tblGrid>
                <a:gridCol w="4937760"/>
                <a:gridCol w="4023360"/>
                <a:gridCol w="1920240"/>
              </a:tblGrid>
              <a:tr h="30175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Endpoint</a:t>
                      </a:r>
                      <a:endParaRPr lang="en-US" sz="120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Access</a:t>
                      </a:r>
                      <a:endParaRPr lang="en-US" sz="120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1E2761"/>
                    </a:solidFill>
                  </a:tcPr>
                </a:tc>
              </a:tr>
              <a:tr h="301752">
                <a:tc>
                  <a:txBody>
                    <a:bodyPr/>
                    <a:lstStyle/>
                    <a:p>
                      <a:pPr indent="0" marL="0">
                        <a:buNone/>
                      </a:pPr>
                      <a:r>
                        <a:rPr lang="en-US" sz="1000" dirty="0">
                          <a:solidFill>
                            <a:srgbClr val="3F4665"/>
                          </a:solidFill>
                          <a:latin typeface="Courier New" pitchFamily="34" charset="0"/>
                          <a:ea typeface="Courier New" pitchFamily="34" charset="-122"/>
                          <a:cs typeface="Courier New" pitchFamily="34" charset="-120"/>
                        </a:rPr>
                        <a:t>POST /auth/register  |  /auth/login</a:t>
                      </a:r>
                      <a:endParaRPr lang="en-US" sz="1000" dirty="0">
                        <a:latin typeface="Courier New" charset="0"/>
                        <a:ea typeface="Courier New" charset="0"/>
                        <a:cs typeface="Courier New"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c>
                  <a:txBody>
                    <a:bodyPr/>
                    <a:lstStyle/>
                    <a:p>
                      <a:pPr indent="0" marL="0">
                        <a:buNone/>
                      </a:pPr>
                      <a:r>
                        <a:rPr lang="en-US" sz="1150" dirty="0">
                          <a:solidFill>
                            <a:srgbClr val="3F4665"/>
                          </a:solidFill>
                          <a:latin typeface="Calibri" pitchFamily="34" charset="0"/>
                          <a:ea typeface="Calibri" pitchFamily="34" charset="-122"/>
                          <a:cs typeface="Calibri" pitchFamily="34" charset="-120"/>
                        </a:rPr>
                        <a:t>Account creation and JWT issue</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Public</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r>
              <a:tr h="301752">
                <a:tc>
                  <a:txBody>
                    <a:bodyPr/>
                    <a:lstStyle/>
                    <a:p>
                      <a:pPr indent="0" marL="0">
                        <a:buNone/>
                      </a:pPr>
                      <a:r>
                        <a:rPr lang="en-US" sz="1000" dirty="0">
                          <a:solidFill>
                            <a:srgbClr val="3F4665"/>
                          </a:solidFill>
                          <a:latin typeface="Courier New" pitchFamily="34" charset="0"/>
                          <a:ea typeface="Courier New" pitchFamily="34" charset="-122"/>
                          <a:cs typeface="Courier New" pitchFamily="34" charset="-120"/>
                        </a:rPr>
                        <a:t>POST /reports</a:t>
                      </a:r>
                      <a:endParaRPr lang="en-US" sz="1000" dirty="0">
                        <a:latin typeface="Courier New" charset="0"/>
                        <a:ea typeface="Courier New" charset="0"/>
                        <a:cs typeface="Courier New"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c>
                  <a:txBody>
                    <a:bodyPr/>
                    <a:lstStyle/>
                    <a:p>
                      <a:pPr indent="0" marL="0">
                        <a:buNone/>
                      </a:pPr>
                      <a:r>
                        <a:rPr lang="en-US" sz="1150" dirty="0">
                          <a:solidFill>
                            <a:srgbClr val="3F4665"/>
                          </a:solidFill>
                          <a:latin typeface="Calibri" pitchFamily="34" charset="0"/>
                          <a:ea typeface="Calibri" pitchFamily="34" charset="-122"/>
                          <a:cs typeface="Calibri" pitchFamily="34" charset="-120"/>
                        </a:rPr>
                        <a:t>Create a draft (version 1)</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Member</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3F4665"/>
                          </a:solidFill>
                          <a:latin typeface="Courier New" pitchFamily="34" charset="0"/>
                          <a:ea typeface="Courier New" pitchFamily="34" charset="-122"/>
                          <a:cs typeface="Courier New" pitchFamily="34" charset="-120"/>
                        </a:rPr>
                        <a:t>PUT /reports/:id</a:t>
                      </a:r>
                      <a:endParaRPr lang="en-US" sz="1000" dirty="0">
                        <a:latin typeface="Courier New" charset="0"/>
                        <a:ea typeface="Courier New" charset="0"/>
                        <a:cs typeface="Courier New"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c>
                  <a:txBody>
                    <a:bodyPr/>
                    <a:lstStyle/>
                    <a:p>
                      <a:pPr indent="0" marL="0">
                        <a:buNone/>
                      </a:pPr>
                      <a:r>
                        <a:rPr lang="en-US" sz="1150" dirty="0">
                          <a:solidFill>
                            <a:srgbClr val="3F4665"/>
                          </a:solidFill>
                          <a:latin typeface="Calibri" pitchFamily="34" charset="0"/>
                          <a:ea typeface="Calibri" pitchFamily="34" charset="-122"/>
                          <a:cs typeface="Calibri" pitchFamily="34" charset="-120"/>
                        </a:rPr>
                        <a:t>Edit draft, or file a correction</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r>
              <a:tr h="301752">
                <a:tc>
                  <a:txBody>
                    <a:bodyPr/>
                    <a:lstStyle/>
                    <a:p>
                      <a:pPr indent="0" marL="0">
                        <a:buNone/>
                      </a:pPr>
                      <a:r>
                        <a:rPr lang="en-US" sz="1000" dirty="0">
                          <a:solidFill>
                            <a:srgbClr val="3F4665"/>
                          </a:solidFill>
                          <a:latin typeface="Courier New" pitchFamily="34" charset="0"/>
                          <a:ea typeface="Courier New" pitchFamily="34" charset="-122"/>
                          <a:cs typeface="Courier New" pitchFamily="34" charset="-120"/>
                        </a:rPr>
                        <a:t>POST /reports/:id/submit</a:t>
                      </a:r>
                      <a:endParaRPr lang="en-US" sz="1000" dirty="0">
                        <a:latin typeface="Courier New" charset="0"/>
                        <a:ea typeface="Courier New" charset="0"/>
                        <a:cs typeface="Courier New"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c>
                  <a:txBody>
                    <a:bodyPr/>
                    <a:lstStyle/>
                    <a:p>
                      <a:pPr indent="0" marL="0">
                        <a:buNone/>
                      </a:pPr>
                      <a:r>
                        <a:rPr lang="en-US" sz="1150" dirty="0">
                          <a:solidFill>
                            <a:srgbClr val="3F4665"/>
                          </a:solidFill>
                          <a:latin typeface="Calibri" pitchFamily="34" charset="0"/>
                          <a:ea typeface="Calibri" pitchFamily="34" charset="-122"/>
                          <a:cs typeface="Calibri" pitchFamily="34" charset="-120"/>
                        </a:rPr>
                        <a:t>Move draft to Submitted</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3F4665"/>
                          </a:solidFill>
                          <a:latin typeface="Courier New" pitchFamily="34" charset="0"/>
                          <a:ea typeface="Courier New" pitchFamily="34" charset="-122"/>
                          <a:cs typeface="Courier New" pitchFamily="34" charset="-120"/>
                        </a:rPr>
                        <a:t>GET /reports/my-history</a:t>
                      </a:r>
                      <a:endParaRPr lang="en-US" sz="1000" dirty="0">
                        <a:latin typeface="Courier New" charset="0"/>
                        <a:ea typeface="Courier New" charset="0"/>
                        <a:cs typeface="Courier New"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c>
                  <a:txBody>
                    <a:bodyPr/>
                    <a:lstStyle/>
                    <a:p>
                      <a:pPr indent="0" marL="0">
                        <a:buNone/>
                      </a:pPr>
                      <a:r>
                        <a:rPr lang="en-US" sz="1150" dirty="0">
                          <a:solidFill>
                            <a:srgbClr val="3F4665"/>
                          </a:solidFill>
                          <a:latin typeface="Calibri" pitchFamily="34" charset="0"/>
                          <a:ea typeface="Calibri" pitchFamily="34" charset="-122"/>
                          <a:cs typeface="Calibri" pitchFamily="34" charset="-120"/>
                        </a:rPr>
                        <a:t>Own reports, newest week first</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Owner</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r>
              <a:tr h="301752">
                <a:tc>
                  <a:txBody>
                    <a:bodyPr/>
                    <a:lstStyle/>
                    <a:p>
                      <a:pPr indent="0" marL="0">
                        <a:buNone/>
                      </a:pPr>
                      <a:r>
                        <a:rPr lang="en-US" sz="1000" dirty="0">
                          <a:solidFill>
                            <a:srgbClr val="3F4665"/>
                          </a:solidFill>
                          <a:latin typeface="Courier New" pitchFamily="34" charset="0"/>
                          <a:ea typeface="Courier New" pitchFamily="34" charset="-122"/>
                          <a:cs typeface="Courier New" pitchFamily="34" charset="-120"/>
                        </a:rPr>
                        <a:t>GET /reports?weekStart&amp;userId&amp;projectId&amp;status</a:t>
                      </a:r>
                      <a:endParaRPr lang="en-US" sz="1000" dirty="0">
                        <a:latin typeface="Courier New" charset="0"/>
                        <a:ea typeface="Courier New" charset="0"/>
                        <a:cs typeface="Courier New"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c>
                  <a:txBody>
                    <a:bodyPr/>
                    <a:lstStyle/>
                    <a:p>
                      <a:pPr indent="0" marL="0">
                        <a:buNone/>
                      </a:pPr>
                      <a:r>
                        <a:rPr lang="en-US" sz="1150" dirty="0">
                          <a:solidFill>
                            <a:srgbClr val="3F4665"/>
                          </a:solidFill>
                          <a:latin typeface="Calibri" pitchFamily="34" charset="0"/>
                          <a:ea typeface="Calibri" pitchFamily="34" charset="-122"/>
                          <a:cs typeface="Calibri" pitchFamily="34" charset="-120"/>
                        </a:rPr>
                        <a:t>Filtered team-wide list</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Manager</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3F4665"/>
                          </a:solidFill>
                          <a:latin typeface="Courier New" pitchFamily="34" charset="0"/>
                          <a:ea typeface="Courier New" pitchFamily="34" charset="-122"/>
                          <a:cs typeface="Courier New" pitchFamily="34" charset="-120"/>
                        </a:rPr>
                        <a:t>GET /reports/manager/:id</a:t>
                      </a:r>
                      <a:endParaRPr lang="en-US" sz="1000" dirty="0">
                        <a:latin typeface="Courier New" charset="0"/>
                        <a:ea typeface="Courier New" charset="0"/>
                        <a:cs typeface="Courier New"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c>
                  <a:txBody>
                    <a:bodyPr/>
                    <a:lstStyle/>
                    <a:p>
                      <a:pPr indent="0" marL="0">
                        <a:buNone/>
                      </a:pPr>
                      <a:r>
                        <a:rPr lang="en-US" sz="1150" dirty="0">
                          <a:solidFill>
                            <a:srgbClr val="3F4665"/>
                          </a:solidFill>
                          <a:latin typeface="Calibri" pitchFamily="34" charset="0"/>
                          <a:ea typeface="Calibri" pitchFamily="34" charset="-122"/>
                          <a:cs typeface="Calibri" pitchFamily="34" charset="-120"/>
                        </a:rPr>
                        <a:t>Any report, with all versions</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Manager</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r>
              <a:tr h="301752">
                <a:tc>
                  <a:txBody>
                    <a:bodyPr/>
                    <a:lstStyle/>
                    <a:p>
                      <a:pPr indent="0" marL="0">
                        <a:buNone/>
                      </a:pPr>
                      <a:r>
                        <a:rPr lang="en-US" sz="1000" dirty="0">
                          <a:solidFill>
                            <a:srgbClr val="3F4665"/>
                          </a:solidFill>
                          <a:latin typeface="Courier New" pitchFamily="34" charset="0"/>
                          <a:ea typeface="Courier New" pitchFamily="34" charset="-122"/>
                          <a:cs typeface="Courier New" pitchFamily="34" charset="-120"/>
                        </a:rPr>
                        <a:t>POST /reports/:id/review</a:t>
                      </a:r>
                      <a:endParaRPr lang="en-US" sz="1000" dirty="0">
                        <a:latin typeface="Courier New" charset="0"/>
                        <a:ea typeface="Courier New" charset="0"/>
                        <a:cs typeface="Courier New"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c>
                  <a:txBody>
                    <a:bodyPr/>
                    <a:lstStyle/>
                    <a:p>
                      <a:pPr indent="0" marL="0">
                        <a:buNone/>
                      </a:pPr>
                      <a:r>
                        <a:rPr lang="en-US" sz="1150" dirty="0">
                          <a:solidFill>
                            <a:srgbClr val="3F4665"/>
                          </a:solidFill>
                          <a:latin typeface="Calibri" pitchFamily="34" charset="0"/>
                          <a:ea typeface="Calibri" pitchFamily="34" charset="-122"/>
                          <a:cs typeface="Calibri" pitchFamily="34" charset="-120"/>
                        </a:rPr>
                        <a:t>Approve or Request Changes</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Manager</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r>
              <a:tr h="301752">
                <a:tc>
                  <a:txBody>
                    <a:bodyPr/>
                    <a:lstStyle/>
                    <a:p>
                      <a:pPr indent="0" marL="0">
                        <a:buNone/>
                      </a:pPr>
                      <a:r>
                        <a:rPr lang="en-US" sz="1000" dirty="0">
                          <a:solidFill>
                            <a:srgbClr val="3F4665"/>
                          </a:solidFill>
                          <a:latin typeface="Courier New" pitchFamily="34" charset="0"/>
                          <a:ea typeface="Courier New" pitchFamily="34" charset="-122"/>
                          <a:cs typeface="Courier New" pitchFamily="34" charset="-120"/>
                        </a:rPr>
                        <a:t>GET POST PUT DELETE /projects</a:t>
                      </a:r>
                      <a:endParaRPr lang="en-US" sz="1000" dirty="0">
                        <a:latin typeface="Courier New" charset="0"/>
                        <a:ea typeface="Courier New" charset="0"/>
                        <a:cs typeface="Courier New"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c>
                  <a:txBody>
                    <a:bodyPr/>
                    <a:lstStyle/>
                    <a:p>
                      <a:pPr indent="0" marL="0">
                        <a:buNone/>
                      </a:pPr>
                      <a:r>
                        <a:rPr lang="en-US" sz="1150" dirty="0">
                          <a:solidFill>
                            <a:srgbClr val="3F4665"/>
                          </a:solidFill>
                          <a:latin typeface="Calibri" pitchFamily="34" charset="0"/>
                          <a:ea typeface="Calibri" pitchFamily="34" charset="-122"/>
                          <a:cs typeface="Calibri" pitchFamily="34" charset="-120"/>
                        </a:rPr>
                        <a:t>Category management (read is open)</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Manager</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7F9FE"/>
                    </a:solidFill>
                  </a:tcPr>
                </a:tc>
              </a:tr>
              <a:tr h="301752">
                <a:tc>
                  <a:txBody>
                    <a:bodyPr/>
                    <a:lstStyle/>
                    <a:p>
                      <a:pPr indent="0" marL="0">
                        <a:buNone/>
                      </a:pPr>
                      <a:r>
                        <a:rPr lang="en-US" sz="1000" dirty="0">
                          <a:solidFill>
                            <a:srgbClr val="3F4665"/>
                          </a:solidFill>
                          <a:latin typeface="Courier New" pitchFamily="34" charset="0"/>
                          <a:ea typeface="Courier New" pitchFamily="34" charset="-122"/>
                          <a:cs typeface="Courier New" pitchFamily="34" charset="-120"/>
                        </a:rPr>
                        <a:t>POST /ai/chat</a:t>
                      </a:r>
                      <a:endParaRPr lang="en-US" sz="1000" dirty="0">
                        <a:latin typeface="Courier New" charset="0"/>
                        <a:ea typeface="Courier New" charset="0"/>
                        <a:cs typeface="Courier New"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c>
                  <a:txBody>
                    <a:bodyPr/>
                    <a:lstStyle/>
                    <a:p>
                      <a:pPr indent="0" marL="0">
                        <a:buNone/>
                      </a:pPr>
                      <a:r>
                        <a:rPr lang="en-US" sz="1150" dirty="0">
                          <a:solidFill>
                            <a:srgbClr val="3F4665"/>
                          </a:solidFill>
                          <a:latin typeface="Calibri" pitchFamily="34" charset="0"/>
                          <a:ea typeface="Calibri" pitchFamily="34" charset="-122"/>
                          <a:cs typeface="Calibri" pitchFamily="34" charset="-120"/>
                        </a:rPr>
                        <a:t>Assistant Q&amp;A over team reports</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c>
                  <a:txBody>
                    <a:bodyPr/>
                    <a:lstStyle/>
                    <a:p>
                      <a:pPr indent="0" marL="0">
                        <a:buNone/>
                      </a:pPr>
                      <a:r>
                        <a:rPr lang="en-US" sz="1150" b="1" dirty="0">
                          <a:solidFill>
                            <a:srgbClr val="1E2761"/>
                          </a:solidFill>
                          <a:latin typeface="Calibri" pitchFamily="34" charset="0"/>
                          <a:ea typeface="Calibri" pitchFamily="34" charset="-122"/>
                          <a:cs typeface="Calibri" pitchFamily="34" charset="-120"/>
                        </a:rPr>
                        <a:t>Manager</a:t>
                      </a:r>
                      <a:endParaRPr lang="en-US" sz="1150" dirty="0">
                        <a:latin typeface="Calibri" charset="0"/>
                        <a:ea typeface="Calibri" charset="0"/>
                        <a:cs typeface="Calibri" charset="0"/>
                      </a:endParaRPr>
                    </a:p>
                  </a:txBody>
                  <a:tcPr marL="54864" marR="54864" marT="54864" marB="54864" anchor="ctr">
                    <a:lnL w="12700" cap="flat" cmpd="sng" algn="ctr">
                      <a:solidFill>
                        <a:srgbClr val="DDE3F5"/>
                      </a:solidFill>
                      <a:prstDash val="solid"/>
                      <a:round/>
                      <a:headEnd type="none" w="med" len="med"/>
                      <a:tailEnd type="none" w="med" len="med"/>
                    </a:lnL>
                    <a:lnR w="12700" cap="flat" cmpd="sng" algn="ctr">
                      <a:solidFill>
                        <a:srgbClr val="DDE3F5"/>
                      </a:solidFill>
                      <a:prstDash val="solid"/>
                      <a:round/>
                      <a:headEnd type="none" w="med" len="med"/>
                      <a:tailEnd type="none" w="med" len="med"/>
                    </a:lnR>
                    <a:lnT w="12700" cap="flat" cmpd="sng" algn="ctr">
                      <a:solidFill>
                        <a:srgbClr val="DDE3F5"/>
                      </a:solidFill>
                      <a:prstDash val="solid"/>
                      <a:round/>
                      <a:headEnd type="none" w="med" len="med"/>
                      <a:tailEnd type="none" w="med" len="med"/>
                    </a:lnT>
                    <a:lnB w="12700" cap="flat" cmpd="sng" algn="ctr">
                      <a:solidFill>
                        <a:srgbClr val="DDE3F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120640"/>
            <a:ext cx="10881360" cy="1051560"/>
          </a:xfrm>
          <a:prstGeom prst="rect">
            <a:avLst/>
          </a:prstGeom>
          <a:noFill/>
          <a:ln/>
        </p:spPr>
        <p:txBody>
          <a:bodyPr wrap="square" lIns="0" tIns="0" rIns="0" bIns="0" rtlCol="0" anchor="ctr"/>
          <a:lstStyle/>
          <a:p>
            <a:pPr indent="0" marL="0">
              <a:lnSpc>
                <a:spcPct val="115000"/>
              </a:lnSpc>
              <a:buNone/>
            </a:pPr>
            <a:r>
              <a:rPr lang="en-US" sz="1300" dirty="0">
                <a:solidFill>
                  <a:srgbClr val="3F4665"/>
                </a:solidFill>
                <a:latin typeface="Calibri" pitchFamily="34" charset="0"/>
                <a:ea typeface="Calibri" pitchFamily="34" charset="-122"/>
                <a:cs typeface="Calibri" pitchFamily="34" charset="-120"/>
              </a:rPr>
              <a:t>Validation is declarative: DTOs use class-validator, with nested validation on the task, blocker, achievement and hours arrays. Errors map to real status codes - 403 on ownership failure, 409 on a duplicate report week, 400 when Request Changes arrives without a comment.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CORE WORKFLOW</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review and correction cycle</a:t>
            </a:r>
            <a:endParaRPr lang="en-US" sz="3200" dirty="0"/>
          </a:p>
        </p:txBody>
      </p:sp>
      <p:sp>
        <p:nvSpPr>
          <p:cNvPr id="4" name="Shape 2"/>
          <p:cNvSpPr/>
          <p:nvPr/>
        </p:nvSpPr>
        <p:spPr>
          <a:xfrm>
            <a:off x="640080" y="1481328"/>
            <a:ext cx="2487168" cy="960120"/>
          </a:xfrm>
          <a:prstGeom prst="roundRect">
            <a:avLst>
              <a:gd name="adj" fmla="val 7619"/>
            </a:avLst>
          </a:prstGeom>
          <a:solidFill>
            <a:srgbClr val="FFFFFF"/>
          </a:solidFill>
          <a:ln w="25400">
            <a:solidFill>
              <a:srgbClr val="7A82A3"/>
            </a:solidFill>
            <a:prstDash val="solid"/>
          </a:ln>
        </p:spPr>
      </p:sp>
      <p:sp>
        <p:nvSpPr>
          <p:cNvPr id="5" name="Text 3"/>
          <p:cNvSpPr txBox="1"/>
          <p:nvPr/>
        </p:nvSpPr>
        <p:spPr>
          <a:xfrm>
            <a:off x="640080" y="1609344"/>
            <a:ext cx="2487168" cy="310896"/>
          </a:xfrm>
          <a:prstGeom prst="rect">
            <a:avLst/>
          </a:prstGeom>
          <a:noFill/>
          <a:ln/>
        </p:spPr>
        <p:txBody>
          <a:bodyPr wrap="square" lIns="0" tIns="0" rIns="0" bIns="0" rtlCol="0" anchor="ctr"/>
          <a:lstStyle/>
          <a:p>
            <a:pPr algn="ctr" indent="0" marL="0">
              <a:buNone/>
            </a:pPr>
            <a:r>
              <a:rPr lang="en-US" sz="1300" b="1" dirty="0">
                <a:solidFill>
                  <a:srgbClr val="7A82A3"/>
                </a:solidFill>
                <a:latin typeface="Calibri" pitchFamily="34" charset="0"/>
                <a:ea typeface="Calibri" pitchFamily="34" charset="-122"/>
                <a:cs typeface="Calibri" pitchFamily="34" charset="-120"/>
              </a:rPr>
              <a:t>DRAFT</a:t>
            </a:r>
            <a:endParaRPr lang="en-US" sz="1300" dirty="0"/>
          </a:p>
        </p:txBody>
      </p:sp>
      <p:sp>
        <p:nvSpPr>
          <p:cNvPr id="6" name="Text 4"/>
          <p:cNvSpPr txBox="1"/>
          <p:nvPr/>
        </p:nvSpPr>
        <p:spPr>
          <a:xfrm>
            <a:off x="731520" y="1938528"/>
            <a:ext cx="2304288" cy="402336"/>
          </a:xfrm>
          <a:prstGeom prst="rect">
            <a:avLst/>
          </a:prstGeom>
          <a:noFill/>
          <a:ln/>
        </p:spPr>
        <p:txBody>
          <a:bodyPr wrap="square" lIns="0" tIns="0" rIns="0" bIns="0" rtlCol="0" anchor="ctr"/>
          <a:lstStyle/>
          <a:p>
            <a:pPr algn="ctr" indent="0" marL="0">
              <a:buNone/>
            </a:pPr>
            <a:r>
              <a:rPr lang="en-US" sz="1000" dirty="0">
                <a:solidFill>
                  <a:srgbClr val="7A82A3"/>
                </a:solidFill>
                <a:latin typeface="Calibri" pitchFamily="34" charset="0"/>
                <a:ea typeface="Calibri" pitchFamily="34" charset="-122"/>
                <a:cs typeface="Calibri" pitchFamily="34" charset="-120"/>
              </a:rPr>
              <a:t>Visible only to the author</a:t>
            </a:r>
            <a:endParaRPr lang="en-US" sz="1000" dirty="0"/>
          </a:p>
        </p:txBody>
      </p:sp>
      <p:sp>
        <p:nvSpPr>
          <p:cNvPr id="7" name="Shape 5"/>
          <p:cNvSpPr/>
          <p:nvPr/>
        </p:nvSpPr>
        <p:spPr>
          <a:xfrm>
            <a:off x="3163824" y="1956816"/>
            <a:ext cx="219456" cy="0"/>
          </a:xfrm>
          <a:prstGeom prst="line">
            <a:avLst/>
          </a:prstGeom>
          <a:noFill/>
          <a:ln w="19050">
            <a:solidFill>
              <a:srgbClr val="7A82A3"/>
            </a:solidFill>
            <a:prstDash val="solid"/>
            <a:tailEnd type="triangle"/>
          </a:ln>
        </p:spPr>
      </p:sp>
      <p:sp>
        <p:nvSpPr>
          <p:cNvPr id="8" name="Shape 6"/>
          <p:cNvSpPr/>
          <p:nvPr/>
        </p:nvSpPr>
        <p:spPr>
          <a:xfrm>
            <a:off x="3419856" y="1481328"/>
            <a:ext cx="2487168" cy="960120"/>
          </a:xfrm>
          <a:prstGeom prst="roundRect">
            <a:avLst>
              <a:gd name="adj" fmla="val 7619"/>
            </a:avLst>
          </a:prstGeom>
          <a:solidFill>
            <a:srgbClr val="FFFFFF"/>
          </a:solidFill>
          <a:ln w="25400">
            <a:solidFill>
              <a:srgbClr val="1E2761"/>
            </a:solidFill>
            <a:prstDash val="solid"/>
          </a:ln>
        </p:spPr>
      </p:sp>
      <p:sp>
        <p:nvSpPr>
          <p:cNvPr id="9" name="Text 7"/>
          <p:cNvSpPr txBox="1"/>
          <p:nvPr/>
        </p:nvSpPr>
        <p:spPr>
          <a:xfrm>
            <a:off x="3419856" y="1609344"/>
            <a:ext cx="2487168" cy="310896"/>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SUBMITTED</a:t>
            </a:r>
            <a:endParaRPr lang="en-US" sz="1300" dirty="0"/>
          </a:p>
        </p:txBody>
      </p:sp>
      <p:sp>
        <p:nvSpPr>
          <p:cNvPr id="10" name="Text 8"/>
          <p:cNvSpPr txBox="1"/>
          <p:nvPr/>
        </p:nvSpPr>
        <p:spPr>
          <a:xfrm>
            <a:off x="3511296" y="1938528"/>
            <a:ext cx="2304288" cy="402336"/>
          </a:xfrm>
          <a:prstGeom prst="rect">
            <a:avLst/>
          </a:prstGeom>
          <a:noFill/>
          <a:ln/>
        </p:spPr>
        <p:txBody>
          <a:bodyPr wrap="square" lIns="0" tIns="0" rIns="0" bIns="0" rtlCol="0" anchor="ctr"/>
          <a:lstStyle/>
          <a:p>
            <a:pPr algn="ctr" indent="0" marL="0">
              <a:buNone/>
            </a:pPr>
            <a:r>
              <a:rPr lang="en-US" sz="1000" dirty="0">
                <a:solidFill>
                  <a:srgbClr val="7A82A3"/>
                </a:solidFill>
                <a:latin typeface="Calibri" pitchFamily="34" charset="0"/>
                <a:ea typeface="Calibri" pitchFamily="34" charset="-122"/>
                <a:cs typeface="Calibri" pitchFamily="34" charset="-120"/>
              </a:rPr>
              <a:t>On the manager's queue</a:t>
            </a:r>
            <a:endParaRPr lang="en-US" sz="1000" dirty="0"/>
          </a:p>
        </p:txBody>
      </p:sp>
      <p:sp>
        <p:nvSpPr>
          <p:cNvPr id="11" name="Shape 9"/>
          <p:cNvSpPr/>
          <p:nvPr/>
        </p:nvSpPr>
        <p:spPr>
          <a:xfrm>
            <a:off x="5943600" y="1956816"/>
            <a:ext cx="219456" cy="0"/>
          </a:xfrm>
          <a:prstGeom prst="line">
            <a:avLst/>
          </a:prstGeom>
          <a:noFill/>
          <a:ln w="19050">
            <a:solidFill>
              <a:srgbClr val="7A82A3"/>
            </a:solidFill>
            <a:prstDash val="solid"/>
            <a:tailEnd type="triangle"/>
          </a:ln>
        </p:spPr>
      </p:sp>
      <p:sp>
        <p:nvSpPr>
          <p:cNvPr id="12" name="Shape 10"/>
          <p:cNvSpPr/>
          <p:nvPr/>
        </p:nvSpPr>
        <p:spPr>
          <a:xfrm>
            <a:off x="6199632" y="1481328"/>
            <a:ext cx="2487168" cy="960120"/>
          </a:xfrm>
          <a:prstGeom prst="roundRect">
            <a:avLst>
              <a:gd name="adj" fmla="val 7619"/>
            </a:avLst>
          </a:prstGeom>
          <a:solidFill>
            <a:srgbClr val="FFFFFF"/>
          </a:solidFill>
          <a:ln w="25400">
            <a:solidFill>
              <a:srgbClr val="B4741C"/>
            </a:solidFill>
            <a:prstDash val="solid"/>
          </a:ln>
        </p:spPr>
      </p:sp>
      <p:sp>
        <p:nvSpPr>
          <p:cNvPr id="13" name="Text 11"/>
          <p:cNvSpPr txBox="1"/>
          <p:nvPr/>
        </p:nvSpPr>
        <p:spPr>
          <a:xfrm>
            <a:off x="6199632" y="1609344"/>
            <a:ext cx="2487168" cy="310896"/>
          </a:xfrm>
          <a:prstGeom prst="rect">
            <a:avLst/>
          </a:prstGeom>
          <a:noFill/>
          <a:ln/>
        </p:spPr>
        <p:txBody>
          <a:bodyPr wrap="square" lIns="0" tIns="0" rIns="0" bIns="0" rtlCol="0" anchor="ctr"/>
          <a:lstStyle/>
          <a:p>
            <a:pPr algn="ctr" indent="0" marL="0">
              <a:buNone/>
            </a:pPr>
            <a:r>
              <a:rPr lang="en-US" sz="1300" b="1" dirty="0">
                <a:solidFill>
                  <a:srgbClr val="B4741C"/>
                </a:solidFill>
                <a:latin typeface="Calibri" pitchFamily="34" charset="0"/>
                <a:ea typeface="Calibri" pitchFamily="34" charset="-122"/>
                <a:cs typeface="Calibri" pitchFamily="34" charset="-120"/>
              </a:rPr>
              <a:t>NEEDS_CORRECTION</a:t>
            </a:r>
            <a:endParaRPr lang="en-US" sz="1300" dirty="0"/>
          </a:p>
        </p:txBody>
      </p:sp>
      <p:sp>
        <p:nvSpPr>
          <p:cNvPr id="14" name="Text 12"/>
          <p:cNvSpPr txBox="1"/>
          <p:nvPr/>
        </p:nvSpPr>
        <p:spPr>
          <a:xfrm>
            <a:off x="6291072" y="1938528"/>
            <a:ext cx="2304288" cy="402336"/>
          </a:xfrm>
          <a:prstGeom prst="rect">
            <a:avLst/>
          </a:prstGeom>
          <a:noFill/>
          <a:ln/>
        </p:spPr>
        <p:txBody>
          <a:bodyPr wrap="square" lIns="0" tIns="0" rIns="0" bIns="0" rtlCol="0" anchor="ctr"/>
          <a:lstStyle/>
          <a:p>
            <a:pPr algn="ctr" indent="0" marL="0">
              <a:buNone/>
            </a:pPr>
            <a:r>
              <a:rPr lang="en-US" sz="1000" dirty="0">
                <a:solidFill>
                  <a:srgbClr val="7A82A3"/>
                </a:solidFill>
                <a:latin typeface="Calibri" pitchFamily="34" charset="0"/>
                <a:ea typeface="Calibri" pitchFamily="34" charset="-122"/>
                <a:cs typeface="Calibri" pitchFamily="34" charset="-120"/>
              </a:rPr>
              <a:t>Editable again, comment shown</a:t>
            </a:r>
            <a:endParaRPr lang="en-US" sz="1000" dirty="0"/>
          </a:p>
        </p:txBody>
      </p:sp>
      <p:sp>
        <p:nvSpPr>
          <p:cNvPr id="15" name="Shape 13"/>
          <p:cNvSpPr/>
          <p:nvPr/>
        </p:nvSpPr>
        <p:spPr>
          <a:xfrm>
            <a:off x="8723376" y="1956816"/>
            <a:ext cx="219456" cy="0"/>
          </a:xfrm>
          <a:prstGeom prst="line">
            <a:avLst/>
          </a:prstGeom>
          <a:noFill/>
          <a:ln w="19050">
            <a:solidFill>
              <a:srgbClr val="7A82A3"/>
            </a:solidFill>
            <a:prstDash val="solid"/>
            <a:tailEnd type="triangle"/>
          </a:ln>
        </p:spPr>
      </p:sp>
      <p:sp>
        <p:nvSpPr>
          <p:cNvPr id="16" name="Shape 14"/>
          <p:cNvSpPr/>
          <p:nvPr/>
        </p:nvSpPr>
        <p:spPr>
          <a:xfrm>
            <a:off x="8979408" y="1481328"/>
            <a:ext cx="2487168" cy="960120"/>
          </a:xfrm>
          <a:prstGeom prst="roundRect">
            <a:avLst>
              <a:gd name="adj" fmla="val 7619"/>
            </a:avLst>
          </a:prstGeom>
          <a:solidFill>
            <a:srgbClr val="FFFFFF"/>
          </a:solidFill>
          <a:ln w="25400">
            <a:solidFill>
              <a:srgbClr val="1F7A5A"/>
            </a:solidFill>
            <a:prstDash val="solid"/>
          </a:ln>
        </p:spPr>
      </p:sp>
      <p:sp>
        <p:nvSpPr>
          <p:cNvPr id="17" name="Text 15"/>
          <p:cNvSpPr txBox="1"/>
          <p:nvPr/>
        </p:nvSpPr>
        <p:spPr>
          <a:xfrm>
            <a:off x="8979408" y="1609344"/>
            <a:ext cx="2487168" cy="310896"/>
          </a:xfrm>
          <a:prstGeom prst="rect">
            <a:avLst/>
          </a:prstGeom>
          <a:noFill/>
          <a:ln/>
        </p:spPr>
        <p:txBody>
          <a:bodyPr wrap="square" lIns="0" tIns="0" rIns="0" bIns="0" rtlCol="0" anchor="ctr"/>
          <a:lstStyle/>
          <a:p>
            <a:pPr algn="ctr" indent="0" marL="0">
              <a:buNone/>
            </a:pPr>
            <a:r>
              <a:rPr lang="en-US" sz="1300" b="1" dirty="0">
                <a:solidFill>
                  <a:srgbClr val="1F7A5A"/>
                </a:solidFill>
                <a:latin typeface="Calibri" pitchFamily="34" charset="0"/>
                <a:ea typeface="Calibri" pitchFamily="34" charset="-122"/>
                <a:cs typeface="Calibri" pitchFamily="34" charset="-120"/>
              </a:rPr>
              <a:t>APPROVED</a:t>
            </a:r>
            <a:endParaRPr lang="en-US" sz="1300" dirty="0"/>
          </a:p>
        </p:txBody>
      </p:sp>
      <p:sp>
        <p:nvSpPr>
          <p:cNvPr id="18" name="Text 16"/>
          <p:cNvSpPr txBox="1"/>
          <p:nvPr/>
        </p:nvSpPr>
        <p:spPr>
          <a:xfrm>
            <a:off x="9070848" y="1938528"/>
            <a:ext cx="2304288" cy="402336"/>
          </a:xfrm>
          <a:prstGeom prst="rect">
            <a:avLst/>
          </a:prstGeom>
          <a:noFill/>
          <a:ln/>
        </p:spPr>
        <p:txBody>
          <a:bodyPr wrap="square" lIns="0" tIns="0" rIns="0" bIns="0" rtlCol="0" anchor="ctr"/>
          <a:lstStyle/>
          <a:p>
            <a:pPr algn="ctr" indent="0" marL="0">
              <a:buNone/>
            </a:pPr>
            <a:r>
              <a:rPr lang="en-US" sz="1000" dirty="0">
                <a:solidFill>
                  <a:srgbClr val="7A82A3"/>
                </a:solidFill>
                <a:latin typeface="Calibri" pitchFamily="34" charset="0"/>
                <a:ea typeface="Calibri" pitchFamily="34" charset="-122"/>
                <a:cs typeface="Calibri" pitchFamily="34" charset="-120"/>
              </a:rPr>
              <a:t>Locked, terminal</a:t>
            </a:r>
            <a:endParaRPr lang="en-US" sz="1000" dirty="0"/>
          </a:p>
        </p:txBody>
      </p:sp>
      <p:sp>
        <p:nvSpPr>
          <p:cNvPr id="19" name="Text 17"/>
          <p:cNvSpPr txBox="1"/>
          <p:nvPr/>
        </p:nvSpPr>
        <p:spPr>
          <a:xfrm>
            <a:off x="3419856" y="2523744"/>
            <a:ext cx="5394960" cy="274320"/>
          </a:xfrm>
          <a:prstGeom prst="rect">
            <a:avLst/>
          </a:prstGeom>
          <a:noFill/>
          <a:ln/>
        </p:spPr>
        <p:txBody>
          <a:bodyPr wrap="square" lIns="0" tIns="0" rIns="0" bIns="0" rtlCol="0" anchor="ctr"/>
          <a:lstStyle/>
          <a:p>
            <a:pPr algn="ctr" indent="0" marL="0">
              <a:buNone/>
            </a:pPr>
            <a:r>
              <a:rPr lang="en-US" sz="1150" b="1" dirty="0">
                <a:solidFill>
                  <a:srgbClr val="B4741C"/>
                </a:solidFill>
                <a:latin typeface="Calibri" pitchFamily="34" charset="0"/>
                <a:ea typeface="Calibri" pitchFamily="34" charset="-122"/>
                <a:cs typeface="Calibri" pitchFamily="34" charset="-120"/>
              </a:rPr>
              <a:t>resubmit loops back</a:t>
            </a:r>
            <a:endParaRPr lang="en-US" sz="1150" dirty="0"/>
          </a:p>
        </p:txBody>
      </p:sp>
      <p:sp>
        <p:nvSpPr>
          <p:cNvPr id="20" name="Text 18"/>
          <p:cNvSpPr txBox="1"/>
          <p:nvPr/>
        </p:nvSpPr>
        <p:spPr>
          <a:xfrm>
            <a:off x="640080" y="2980944"/>
            <a:ext cx="548640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One branch does the real work</a:t>
            </a:r>
            <a:endParaRPr lang="en-US" sz="1700" dirty="0"/>
          </a:p>
        </p:txBody>
      </p:sp>
      <p:sp>
        <p:nvSpPr>
          <p:cNvPr id="21" name="Text 19"/>
          <p:cNvSpPr txBox="1"/>
          <p:nvPr/>
        </p:nvSpPr>
        <p:spPr>
          <a:xfrm>
            <a:off x="640080" y="3346704"/>
            <a:ext cx="5577840" cy="1097280"/>
          </a:xfrm>
          <a:prstGeom prst="rect">
            <a:avLst/>
          </a:prstGeom>
          <a:noFill/>
          <a:ln/>
        </p:spPr>
        <p:txBody>
          <a:bodyPr wrap="square" lIns="0" tIns="0" rIns="0" bIns="0" rtlCol="0" anchor="ctr"/>
          <a:lstStyle/>
          <a:p>
            <a:pPr indent="0" marL="0">
              <a:lnSpc>
                <a:spcPct val="115000"/>
              </a:lnSpc>
              <a:buNone/>
            </a:pPr>
            <a:r>
              <a:rPr lang="en-US" sz="1300" dirty="0">
                <a:solidFill>
                  <a:srgbClr val="3F4665"/>
                </a:solidFill>
                <a:latin typeface="Calibri" pitchFamily="34" charset="0"/>
                <a:ea typeface="Calibri" pitchFamily="34" charset="-122"/>
                <a:cs typeface="Calibri" pitchFamily="34" charset="-120"/>
              </a:rPr>
              <a:t>updateReport() behaves differently depending on the status it finds. A draft is still being written, so editing mutates version 1 in place. A correction is a response to feedback, so it appends a new version and leaves the old one intact.</a:t>
            </a:r>
            <a:endParaRPr lang="en-US" sz="1300" dirty="0"/>
          </a:p>
        </p:txBody>
      </p:sp>
      <p:sp>
        <p:nvSpPr>
          <p:cNvPr id="22" name="Shape 20"/>
          <p:cNvSpPr/>
          <p:nvPr/>
        </p:nvSpPr>
        <p:spPr>
          <a:xfrm>
            <a:off x="640080" y="4498848"/>
            <a:ext cx="5577840" cy="1207008"/>
          </a:xfrm>
          <a:prstGeom prst="roundRect">
            <a:avLst>
              <a:gd name="adj" fmla="val 4545"/>
            </a:avLst>
          </a:prstGeom>
          <a:solidFill>
            <a:srgbClr val="141A45"/>
          </a:solidFill>
          <a:ln w="12700">
            <a:solidFill>
              <a:srgbClr val="141A45"/>
            </a:solidFill>
            <a:prstDash val="solid"/>
          </a:ln>
        </p:spPr>
      </p:sp>
      <p:sp>
        <p:nvSpPr>
          <p:cNvPr id="23" name="Text 21"/>
          <p:cNvSpPr txBox="1"/>
          <p:nvPr/>
        </p:nvSpPr>
        <p:spPr>
          <a:xfrm>
            <a:off x="786384" y="4608576"/>
            <a:ext cx="5285232" cy="987552"/>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if (status === 'NEEDS_CORRECTION')</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  create version n+1       // history preserved</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else</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  update version in place  // draft churn</a:t>
            </a:r>
            <a:endParaRPr lang="en-US" sz="1150" dirty="0"/>
          </a:p>
        </p:txBody>
      </p:sp>
      <p:sp>
        <p:nvSpPr>
          <p:cNvPr id="24" name="Shape 22"/>
          <p:cNvSpPr/>
          <p:nvPr/>
        </p:nvSpPr>
        <p:spPr>
          <a:xfrm>
            <a:off x="6492240" y="2980944"/>
            <a:ext cx="5029200" cy="2724912"/>
          </a:xfrm>
          <a:prstGeom prst="roundRect">
            <a:avLst>
              <a:gd name="adj" fmla="val 2685"/>
            </a:avLst>
          </a:prstGeom>
          <a:solidFill>
            <a:srgbClr val="F7F9FE"/>
          </a:solidFill>
          <a:ln w="12700">
            <a:solidFill>
              <a:srgbClr val="DDE3F5"/>
            </a:solidFill>
            <a:prstDash val="solid"/>
          </a:ln>
        </p:spPr>
      </p:sp>
      <p:sp>
        <p:nvSpPr>
          <p:cNvPr id="25" name="Text 23"/>
          <p:cNvSpPr txBox="1"/>
          <p:nvPr/>
        </p:nvSpPr>
        <p:spPr>
          <a:xfrm>
            <a:off x="6784848" y="3163824"/>
            <a:ext cx="448056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Review action is atomic</a:t>
            </a:r>
            <a:endParaRPr lang="en-US" sz="1700" dirty="0"/>
          </a:p>
        </p:txBody>
      </p:sp>
      <p:sp>
        <p:nvSpPr>
          <p:cNvPr id="26" name="Text 24"/>
          <p:cNvSpPr txBox="1"/>
          <p:nvPr/>
        </p:nvSpPr>
        <p:spPr>
          <a:xfrm>
            <a:off x="6784848" y="3566160"/>
            <a:ext cx="4434840" cy="196596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reviewReport() wraps the status update and the ReviewComment insert in one Prisma $transaction</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Status and feedback can never drift apart - no state where a report is returned but the reason is missing</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A comment is mandatory for Request Changes (400 otherwise)</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Editing is refused unless status is DRAFT or NEEDS_CORRECTION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FRONTEND</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How the client is organised</a:t>
            </a:r>
            <a:endParaRPr lang="en-US" sz="3200" dirty="0"/>
          </a:p>
        </p:txBody>
      </p:sp>
      <p:sp>
        <p:nvSpPr>
          <p:cNvPr id="4" name="Shape 2"/>
          <p:cNvSpPr/>
          <p:nvPr/>
        </p:nvSpPr>
        <p:spPr>
          <a:xfrm>
            <a:off x="640080" y="1463040"/>
            <a:ext cx="2578608" cy="1463040"/>
          </a:xfrm>
          <a:prstGeom prst="roundRect">
            <a:avLst>
              <a:gd name="adj" fmla="val 5000"/>
            </a:avLst>
          </a:prstGeom>
          <a:solidFill>
            <a:srgbClr val="F7F9FE"/>
          </a:solidFill>
          <a:ln w="12700">
            <a:solidFill>
              <a:srgbClr val="DDE3F5"/>
            </a:solidFill>
            <a:prstDash val="solid"/>
          </a:ln>
        </p:spPr>
      </p:sp>
      <p:sp>
        <p:nvSpPr>
          <p:cNvPr id="5" name="Text 3"/>
          <p:cNvSpPr txBox="1"/>
          <p:nvPr/>
        </p:nvSpPr>
        <p:spPr>
          <a:xfrm>
            <a:off x="859536" y="1645920"/>
            <a:ext cx="2194560" cy="310896"/>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pages/</a:t>
            </a:r>
            <a:endParaRPr lang="en-US" sz="1300" dirty="0"/>
          </a:p>
        </p:txBody>
      </p:sp>
      <p:sp>
        <p:nvSpPr>
          <p:cNvPr id="6" name="Text 4"/>
          <p:cNvSpPr txBox="1"/>
          <p:nvPr/>
        </p:nvSpPr>
        <p:spPr>
          <a:xfrm>
            <a:off x="859536" y="2011680"/>
            <a:ext cx="2157984" cy="822960"/>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13 routed screens, split into member/ and manager/ folders</a:t>
            </a:r>
            <a:endParaRPr lang="en-US" sz="1150" dirty="0"/>
          </a:p>
        </p:txBody>
      </p:sp>
      <p:sp>
        <p:nvSpPr>
          <p:cNvPr id="7" name="Shape 5"/>
          <p:cNvSpPr/>
          <p:nvPr/>
        </p:nvSpPr>
        <p:spPr>
          <a:xfrm>
            <a:off x="3401568" y="1463040"/>
            <a:ext cx="2578608" cy="1463040"/>
          </a:xfrm>
          <a:prstGeom prst="roundRect">
            <a:avLst>
              <a:gd name="adj" fmla="val 5000"/>
            </a:avLst>
          </a:prstGeom>
          <a:solidFill>
            <a:srgbClr val="F7F9FE"/>
          </a:solidFill>
          <a:ln w="12700">
            <a:solidFill>
              <a:srgbClr val="DDE3F5"/>
            </a:solidFill>
            <a:prstDash val="solid"/>
          </a:ln>
        </p:spPr>
      </p:sp>
      <p:sp>
        <p:nvSpPr>
          <p:cNvPr id="8" name="Text 6"/>
          <p:cNvSpPr txBox="1"/>
          <p:nvPr/>
        </p:nvSpPr>
        <p:spPr>
          <a:xfrm>
            <a:off x="3621024" y="1645920"/>
            <a:ext cx="2194560" cy="310896"/>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components/</a:t>
            </a:r>
            <a:endParaRPr lang="en-US" sz="1300" dirty="0"/>
          </a:p>
        </p:txBody>
      </p:sp>
      <p:sp>
        <p:nvSpPr>
          <p:cNvPr id="9" name="Text 7"/>
          <p:cNvSpPr txBox="1"/>
          <p:nvPr/>
        </p:nvSpPr>
        <p:spPr>
          <a:xfrm>
            <a:off x="3621024" y="2011680"/>
            <a:ext cx="2157984" cy="822960"/>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Shared building blocks plus ui/ shadcn primitives</a:t>
            </a:r>
            <a:endParaRPr lang="en-US" sz="1150" dirty="0"/>
          </a:p>
        </p:txBody>
      </p:sp>
      <p:sp>
        <p:nvSpPr>
          <p:cNvPr id="10" name="Shape 8"/>
          <p:cNvSpPr/>
          <p:nvPr/>
        </p:nvSpPr>
        <p:spPr>
          <a:xfrm>
            <a:off x="6163056" y="1463040"/>
            <a:ext cx="2578608" cy="1463040"/>
          </a:xfrm>
          <a:prstGeom prst="roundRect">
            <a:avLst>
              <a:gd name="adj" fmla="val 5000"/>
            </a:avLst>
          </a:prstGeom>
          <a:solidFill>
            <a:srgbClr val="F7F9FE"/>
          </a:solidFill>
          <a:ln w="12700">
            <a:solidFill>
              <a:srgbClr val="DDE3F5"/>
            </a:solidFill>
            <a:prstDash val="solid"/>
          </a:ln>
        </p:spPr>
      </p:sp>
      <p:sp>
        <p:nvSpPr>
          <p:cNvPr id="11" name="Text 9"/>
          <p:cNvSpPr txBox="1"/>
          <p:nvPr/>
        </p:nvSpPr>
        <p:spPr>
          <a:xfrm>
            <a:off x="6382512" y="1645920"/>
            <a:ext cx="2194560" cy="310896"/>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context/</a:t>
            </a:r>
            <a:endParaRPr lang="en-US" sz="1300" dirty="0"/>
          </a:p>
        </p:txBody>
      </p:sp>
      <p:sp>
        <p:nvSpPr>
          <p:cNvPr id="12" name="Text 10"/>
          <p:cNvSpPr txBox="1"/>
          <p:nvPr/>
        </p:nvSpPr>
        <p:spPr>
          <a:xfrm>
            <a:off x="6382512" y="2011680"/>
            <a:ext cx="2157984" cy="822960"/>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AuthContext for session, ThemeContext for light/dark</a:t>
            </a:r>
            <a:endParaRPr lang="en-US" sz="1150" dirty="0"/>
          </a:p>
        </p:txBody>
      </p:sp>
      <p:sp>
        <p:nvSpPr>
          <p:cNvPr id="13" name="Shape 11"/>
          <p:cNvSpPr/>
          <p:nvPr/>
        </p:nvSpPr>
        <p:spPr>
          <a:xfrm>
            <a:off x="8924544" y="1463040"/>
            <a:ext cx="2578608" cy="1463040"/>
          </a:xfrm>
          <a:prstGeom prst="roundRect">
            <a:avLst>
              <a:gd name="adj" fmla="val 5000"/>
            </a:avLst>
          </a:prstGeom>
          <a:solidFill>
            <a:srgbClr val="F7F9FE"/>
          </a:solidFill>
          <a:ln w="12700">
            <a:solidFill>
              <a:srgbClr val="DDE3F5"/>
            </a:solidFill>
            <a:prstDash val="solid"/>
          </a:ln>
        </p:spPr>
      </p:sp>
      <p:sp>
        <p:nvSpPr>
          <p:cNvPr id="14" name="Text 12"/>
          <p:cNvSpPr txBox="1"/>
          <p:nvPr/>
        </p:nvSpPr>
        <p:spPr>
          <a:xfrm>
            <a:off x="9144000" y="1645920"/>
            <a:ext cx="2194560" cy="310896"/>
          </a:xfrm>
          <a:prstGeom prst="rect">
            <a:avLst/>
          </a:prstGeom>
          <a:noFill/>
          <a:ln/>
        </p:spPr>
        <p:txBody>
          <a:bodyPr wrap="square" lIns="0" tIns="0" rIns="0" bIns="0" rtlCol="0" anchor="ctr"/>
          <a:lstStyle/>
          <a:p>
            <a:pPr indent="0" marL="0">
              <a:buNone/>
            </a:pPr>
            <a:r>
              <a:rPr lang="en-US" sz="1300" b="1" dirty="0">
                <a:solidFill>
                  <a:srgbClr val="1E2761"/>
                </a:solidFill>
                <a:latin typeface="Courier New" pitchFamily="34" charset="0"/>
                <a:ea typeface="Courier New" pitchFamily="34" charset="-122"/>
                <a:cs typeface="Courier New" pitchFamily="34" charset="-120"/>
              </a:rPr>
              <a:t>lib/ routes/</a:t>
            </a:r>
            <a:endParaRPr lang="en-US" sz="1300" dirty="0"/>
          </a:p>
        </p:txBody>
      </p:sp>
      <p:sp>
        <p:nvSpPr>
          <p:cNvPr id="15" name="Text 13"/>
          <p:cNvSpPr txBox="1"/>
          <p:nvPr/>
        </p:nvSpPr>
        <p:spPr>
          <a:xfrm>
            <a:off x="9144000" y="2011680"/>
            <a:ext cx="2157984" cy="822960"/>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axios instance with JWT interceptor; ProtectedRoute</a:t>
            </a:r>
            <a:endParaRPr lang="en-US" sz="1150" dirty="0"/>
          </a:p>
        </p:txBody>
      </p:sp>
      <p:sp>
        <p:nvSpPr>
          <p:cNvPr id="16" name="Text 14"/>
          <p:cNvSpPr txBox="1"/>
          <p:nvPr/>
        </p:nvSpPr>
        <p:spPr>
          <a:xfrm>
            <a:off x="640080" y="3127248"/>
            <a:ext cx="548640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Routing is role-gated</a:t>
            </a:r>
            <a:endParaRPr lang="en-US" sz="1700" dirty="0"/>
          </a:p>
        </p:txBody>
      </p:sp>
      <p:sp>
        <p:nvSpPr>
          <p:cNvPr id="17" name="Text 15"/>
          <p:cNvSpPr txBox="1"/>
          <p:nvPr/>
        </p:nvSpPr>
        <p:spPr>
          <a:xfrm>
            <a:off x="640080" y="3493008"/>
            <a:ext cx="5577840" cy="1051560"/>
          </a:xfrm>
          <a:prstGeom prst="rect">
            <a:avLst/>
          </a:prstGeom>
          <a:noFill/>
          <a:ln/>
        </p:spPr>
        <p:txBody>
          <a:bodyPr wrap="square" lIns="0" tIns="0" rIns="0" bIns="0" rtlCol="0" anchor="ctr"/>
          <a:lstStyle/>
          <a:p>
            <a:pPr indent="0" marL="0">
              <a:lnSpc>
                <a:spcPct val="115000"/>
              </a:lnSpc>
              <a:buNone/>
            </a:pPr>
            <a:r>
              <a:rPr lang="en-US" sz="1300" dirty="0">
                <a:solidFill>
                  <a:srgbClr val="3F4665"/>
                </a:solidFill>
                <a:latin typeface="Calibri" pitchFamily="34" charset="0"/>
                <a:ea typeface="Calibri" pitchFamily="34" charset="-122"/>
                <a:cs typeface="Calibri" pitchFamily="34" charset="-120"/>
              </a:rPr>
              <a:t>17 routes wrapped in ProtectedRoute, which takes an optional requiredRole. The client gate is convenience, not security - the API enforces the same rules independently, so a hand-typed URL still fails server-side.</a:t>
            </a:r>
            <a:endParaRPr lang="en-US" sz="1300" dirty="0"/>
          </a:p>
        </p:txBody>
      </p:sp>
      <p:sp>
        <p:nvSpPr>
          <p:cNvPr id="18" name="Shape 16"/>
          <p:cNvSpPr/>
          <p:nvPr/>
        </p:nvSpPr>
        <p:spPr>
          <a:xfrm>
            <a:off x="640080" y="4617720"/>
            <a:ext cx="5577840" cy="868680"/>
          </a:xfrm>
          <a:prstGeom prst="roundRect">
            <a:avLst>
              <a:gd name="adj" fmla="val 6316"/>
            </a:avLst>
          </a:prstGeom>
          <a:solidFill>
            <a:srgbClr val="141A45"/>
          </a:solidFill>
          <a:ln w="12700">
            <a:solidFill>
              <a:srgbClr val="141A45"/>
            </a:solidFill>
            <a:prstDash val="solid"/>
          </a:ln>
        </p:spPr>
      </p:sp>
      <p:sp>
        <p:nvSpPr>
          <p:cNvPr id="19" name="Text 17"/>
          <p:cNvSpPr txBox="1"/>
          <p:nvPr/>
        </p:nvSpPr>
        <p:spPr>
          <a:xfrm>
            <a:off x="786384" y="4727448"/>
            <a:ext cx="5285232" cy="649224"/>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&lt;ProtectedRoute requiredRole="MANAGER"&gt;</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  &lt;ManagerDashboard /&gt;</a:t>
            </a:r>
            <a:endParaRPr lang="en-US" sz="1150" dirty="0"/>
          </a:p>
          <a:p>
            <a:pPr indent="0" marL="0">
              <a:lnSpc>
                <a:spcPct val="120000"/>
              </a:lnSpc>
              <a:buNone/>
            </a:pPr>
            <a:r>
              <a:rPr lang="en-US" sz="1150" dirty="0">
                <a:solidFill>
                  <a:srgbClr val="CADCFC"/>
                </a:solidFill>
                <a:latin typeface="Courier New" pitchFamily="34" charset="0"/>
                <a:ea typeface="Courier New" pitchFamily="34" charset="-122"/>
                <a:cs typeface="Courier New" pitchFamily="34" charset="-120"/>
              </a:rPr>
              <a:t>&lt;/ProtectedRoute&gt;</a:t>
            </a:r>
            <a:endParaRPr lang="en-US" sz="1150" dirty="0"/>
          </a:p>
        </p:txBody>
      </p:sp>
      <p:sp>
        <p:nvSpPr>
          <p:cNvPr id="20" name="Shape 18"/>
          <p:cNvSpPr/>
          <p:nvPr/>
        </p:nvSpPr>
        <p:spPr>
          <a:xfrm>
            <a:off x="6492240" y="3127248"/>
            <a:ext cx="5029200" cy="2359152"/>
          </a:xfrm>
          <a:prstGeom prst="roundRect">
            <a:avLst>
              <a:gd name="adj" fmla="val 3101"/>
            </a:avLst>
          </a:prstGeom>
          <a:solidFill>
            <a:srgbClr val="F7F9FE"/>
          </a:solidFill>
          <a:ln w="12700">
            <a:solidFill>
              <a:srgbClr val="DDE3F5"/>
            </a:solidFill>
            <a:prstDash val="solid"/>
          </a:ln>
        </p:spPr>
      </p:sp>
      <p:sp>
        <p:nvSpPr>
          <p:cNvPr id="21" name="Text 19"/>
          <p:cNvSpPr txBox="1"/>
          <p:nvPr/>
        </p:nvSpPr>
        <p:spPr>
          <a:xfrm>
            <a:off x="6784848" y="3310128"/>
            <a:ext cx="448056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State management</a:t>
            </a:r>
            <a:endParaRPr lang="en-US" sz="1700" dirty="0"/>
          </a:p>
        </p:txBody>
      </p:sp>
      <p:sp>
        <p:nvSpPr>
          <p:cNvPr id="22" name="Text 20"/>
          <p:cNvSpPr txBox="1"/>
          <p:nvPr/>
        </p:nvSpPr>
        <p:spPr>
          <a:xfrm>
            <a:off x="6784848" y="3712464"/>
            <a:ext cx="4434840" cy="164592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TanStack Query owns all server state - no duplicated data in local state</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A review action invalidates the report, dashboard and team-report queries at once</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Local state is only UI concerns: filters, sorting, dialogs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KEY COMPONENTS</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Three surfaces, clearly separated</a:t>
            </a:r>
            <a:endParaRPr lang="en-US" sz="3200" dirty="0"/>
          </a:p>
        </p:txBody>
      </p:sp>
      <p:sp>
        <p:nvSpPr>
          <p:cNvPr id="4" name="Shape 2"/>
          <p:cNvSpPr/>
          <p:nvPr/>
        </p:nvSpPr>
        <p:spPr>
          <a:xfrm>
            <a:off x="640080" y="1463040"/>
            <a:ext cx="3474720" cy="2194560"/>
          </a:xfrm>
          <a:prstGeom prst="roundRect">
            <a:avLst>
              <a:gd name="adj" fmla="val 3333"/>
            </a:avLst>
          </a:prstGeom>
          <a:solidFill>
            <a:srgbClr val="F7F9FE"/>
          </a:solidFill>
          <a:ln w="12700">
            <a:solidFill>
              <a:srgbClr val="DDE3F5"/>
            </a:solidFill>
            <a:prstDash val="solid"/>
          </a:ln>
        </p:spPr>
      </p:sp>
      <p:sp>
        <p:nvSpPr>
          <p:cNvPr id="5" name="Shape 3"/>
          <p:cNvSpPr/>
          <p:nvPr/>
        </p:nvSpPr>
        <p:spPr>
          <a:xfrm>
            <a:off x="896112" y="1700784"/>
            <a:ext cx="438912" cy="438912"/>
          </a:xfrm>
          <a:prstGeom prst="ellipse">
            <a:avLst/>
          </a:prstGeom>
          <a:solidFill>
            <a:srgbClr val="1E2761"/>
          </a:solidFill>
          <a:ln/>
        </p:spPr>
      </p:sp>
      <p:sp>
        <p:nvSpPr>
          <p:cNvPr id="6" name="Text 4"/>
          <p:cNvSpPr txBox="1"/>
          <p:nvPr/>
        </p:nvSpPr>
        <p:spPr>
          <a:xfrm>
            <a:off x="896112" y="1700784"/>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t>
            </a:r>
            <a:endParaRPr lang="en-US" sz="1300" dirty="0"/>
          </a:p>
        </p:txBody>
      </p:sp>
      <p:sp>
        <p:nvSpPr>
          <p:cNvPr id="7" name="Text 5"/>
          <p:cNvSpPr txBox="1"/>
          <p:nvPr/>
        </p:nvSpPr>
        <p:spPr>
          <a:xfrm>
            <a:off x="896112" y="2240280"/>
            <a:ext cx="3017520" cy="329184"/>
          </a:xfrm>
          <a:prstGeom prst="rect">
            <a:avLst/>
          </a:prstGeom>
          <a:noFill/>
          <a:ln/>
        </p:spPr>
        <p:txBody>
          <a:bodyPr wrap="square" lIns="0" tIns="0" rIns="0" bIns="0" rtlCol="0" anchor="ctr"/>
          <a:lstStyle/>
          <a:p>
            <a:pPr indent="0" marL="0">
              <a:buNone/>
            </a:pPr>
            <a:r>
              <a:rPr lang="en-US" sz="1500" b="1" dirty="0">
                <a:solidFill>
                  <a:srgbClr val="1B1F3B"/>
                </a:solidFill>
                <a:latin typeface="Cambria" pitchFamily="34" charset="0"/>
                <a:ea typeface="Cambria" pitchFamily="34" charset="-122"/>
                <a:cs typeface="Cambria" pitchFamily="34" charset="-120"/>
              </a:rPr>
              <a:t>Personal report page</a:t>
            </a:r>
            <a:endParaRPr lang="en-US" sz="1500" dirty="0"/>
          </a:p>
        </p:txBody>
      </p:sp>
      <p:sp>
        <p:nvSpPr>
          <p:cNvPr id="8" name="Text 6"/>
          <p:cNvSpPr txBox="1"/>
          <p:nvPr/>
        </p:nvSpPr>
        <p:spPr>
          <a:xfrm>
            <a:off x="896112" y="2606040"/>
            <a:ext cx="2962656" cy="960120"/>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ReportFormPage - the fixed structure: week, project, task table, next week, blockers, achievements, hours. Users cannot add or reorder fields.</a:t>
            </a:r>
            <a:endParaRPr lang="en-US" sz="1150" dirty="0"/>
          </a:p>
        </p:txBody>
      </p:sp>
      <p:sp>
        <p:nvSpPr>
          <p:cNvPr id="9" name="Shape 7"/>
          <p:cNvSpPr/>
          <p:nvPr/>
        </p:nvSpPr>
        <p:spPr>
          <a:xfrm>
            <a:off x="4343400" y="1463040"/>
            <a:ext cx="3474720" cy="2194560"/>
          </a:xfrm>
          <a:prstGeom prst="roundRect">
            <a:avLst>
              <a:gd name="adj" fmla="val 3333"/>
            </a:avLst>
          </a:prstGeom>
          <a:solidFill>
            <a:srgbClr val="F7F9FE"/>
          </a:solidFill>
          <a:ln w="12700">
            <a:solidFill>
              <a:srgbClr val="DDE3F5"/>
            </a:solidFill>
            <a:prstDash val="solid"/>
          </a:ln>
        </p:spPr>
      </p:sp>
      <p:sp>
        <p:nvSpPr>
          <p:cNvPr id="10" name="Shape 8"/>
          <p:cNvSpPr/>
          <p:nvPr/>
        </p:nvSpPr>
        <p:spPr>
          <a:xfrm>
            <a:off x="4599432" y="1700784"/>
            <a:ext cx="438912" cy="438912"/>
          </a:xfrm>
          <a:prstGeom prst="ellipse">
            <a:avLst/>
          </a:prstGeom>
          <a:solidFill>
            <a:srgbClr val="B4741C"/>
          </a:solidFill>
          <a:ln/>
        </p:spPr>
      </p:sp>
      <p:sp>
        <p:nvSpPr>
          <p:cNvPr id="11" name="Text 9"/>
          <p:cNvSpPr txBox="1"/>
          <p:nvPr/>
        </p:nvSpPr>
        <p:spPr>
          <a:xfrm>
            <a:off x="4599432" y="1700784"/>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a:t>
            </a:r>
            <a:endParaRPr lang="en-US" sz="1300" dirty="0"/>
          </a:p>
        </p:txBody>
      </p:sp>
      <p:sp>
        <p:nvSpPr>
          <p:cNvPr id="12" name="Text 10"/>
          <p:cNvSpPr txBox="1"/>
          <p:nvPr/>
        </p:nvSpPr>
        <p:spPr>
          <a:xfrm>
            <a:off x="4599432" y="2240280"/>
            <a:ext cx="3017520" cy="329184"/>
          </a:xfrm>
          <a:prstGeom prst="rect">
            <a:avLst/>
          </a:prstGeom>
          <a:noFill/>
          <a:ln/>
        </p:spPr>
        <p:txBody>
          <a:bodyPr wrap="square" lIns="0" tIns="0" rIns="0" bIns="0" rtlCol="0" anchor="ctr"/>
          <a:lstStyle/>
          <a:p>
            <a:pPr indent="0" marL="0">
              <a:buNone/>
            </a:pPr>
            <a:r>
              <a:rPr lang="en-US" sz="1500" b="1" dirty="0">
                <a:solidFill>
                  <a:srgbClr val="1B1F3B"/>
                </a:solidFill>
                <a:latin typeface="Cambria" pitchFamily="34" charset="0"/>
                <a:ea typeface="Cambria" pitchFamily="34" charset="-122"/>
                <a:cs typeface="Cambria" pitchFamily="34" charset="-120"/>
              </a:rPr>
              <a:t>Report history</a:t>
            </a:r>
            <a:endParaRPr lang="en-US" sz="1500" dirty="0"/>
          </a:p>
        </p:txBody>
      </p:sp>
      <p:sp>
        <p:nvSpPr>
          <p:cNvPr id="13" name="Text 11"/>
          <p:cNvSpPr txBox="1"/>
          <p:nvPr/>
        </p:nvSpPr>
        <p:spPr>
          <a:xfrm>
            <a:off x="4599432" y="2606040"/>
            <a:ext cx="2962656" cy="960120"/>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ReportHistoryPage - a list view separate from the editor, built on a reusable DataTable with search, per-column sorting, filters and pagination.</a:t>
            </a:r>
            <a:endParaRPr lang="en-US" sz="1150" dirty="0"/>
          </a:p>
        </p:txBody>
      </p:sp>
      <p:sp>
        <p:nvSpPr>
          <p:cNvPr id="14" name="Shape 12"/>
          <p:cNvSpPr/>
          <p:nvPr/>
        </p:nvSpPr>
        <p:spPr>
          <a:xfrm>
            <a:off x="8046720" y="1463040"/>
            <a:ext cx="3474720" cy="2194560"/>
          </a:xfrm>
          <a:prstGeom prst="roundRect">
            <a:avLst>
              <a:gd name="adj" fmla="val 3333"/>
            </a:avLst>
          </a:prstGeom>
          <a:solidFill>
            <a:srgbClr val="F7F9FE"/>
          </a:solidFill>
          <a:ln w="12700">
            <a:solidFill>
              <a:srgbClr val="DDE3F5"/>
            </a:solidFill>
            <a:prstDash val="solid"/>
          </a:ln>
        </p:spPr>
      </p:sp>
      <p:sp>
        <p:nvSpPr>
          <p:cNvPr id="15" name="Shape 13"/>
          <p:cNvSpPr/>
          <p:nvPr/>
        </p:nvSpPr>
        <p:spPr>
          <a:xfrm>
            <a:off x="8302752" y="1700784"/>
            <a:ext cx="438912" cy="438912"/>
          </a:xfrm>
          <a:prstGeom prst="ellipse">
            <a:avLst/>
          </a:prstGeom>
          <a:solidFill>
            <a:srgbClr val="1F7A5A"/>
          </a:solidFill>
          <a:ln/>
        </p:spPr>
      </p:sp>
      <p:sp>
        <p:nvSpPr>
          <p:cNvPr id="16" name="Text 14"/>
          <p:cNvSpPr txBox="1"/>
          <p:nvPr/>
        </p:nvSpPr>
        <p:spPr>
          <a:xfrm>
            <a:off x="8302752" y="1700784"/>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7" name="Text 15"/>
          <p:cNvSpPr txBox="1"/>
          <p:nvPr/>
        </p:nvSpPr>
        <p:spPr>
          <a:xfrm>
            <a:off x="8302752" y="2240280"/>
            <a:ext cx="3017520" cy="329184"/>
          </a:xfrm>
          <a:prstGeom prst="rect">
            <a:avLst/>
          </a:prstGeom>
          <a:noFill/>
          <a:ln/>
        </p:spPr>
        <p:txBody>
          <a:bodyPr wrap="square" lIns="0" tIns="0" rIns="0" bIns="0" rtlCol="0" anchor="ctr"/>
          <a:lstStyle/>
          <a:p>
            <a:pPr indent="0" marL="0">
              <a:buNone/>
            </a:pPr>
            <a:r>
              <a:rPr lang="en-US" sz="1500" b="1" dirty="0">
                <a:solidFill>
                  <a:srgbClr val="1B1F3B"/>
                </a:solidFill>
                <a:latin typeface="Cambria" pitchFamily="34" charset="0"/>
                <a:ea typeface="Cambria" pitchFamily="34" charset="-122"/>
                <a:cs typeface="Cambria" pitchFamily="34" charset="-120"/>
              </a:rPr>
              <a:t>Team dashboard</a:t>
            </a:r>
            <a:endParaRPr lang="en-US" sz="1500" dirty="0"/>
          </a:p>
        </p:txBody>
      </p:sp>
      <p:sp>
        <p:nvSpPr>
          <p:cNvPr id="18" name="Text 16"/>
          <p:cNvSpPr txBox="1"/>
          <p:nvPr/>
        </p:nvSpPr>
        <p:spPr>
          <a:xfrm>
            <a:off x="8302752" y="2606040"/>
            <a:ext cx="2962656" cy="960120"/>
          </a:xfrm>
          <a:prstGeom prst="rect">
            <a:avLst/>
          </a:prstGeom>
          <a:noFill/>
          <a:ln/>
        </p:spPr>
        <p:txBody>
          <a:bodyPr wrap="square" lIns="0" tIns="0" rIns="0" bIns="0" rtlCol="0" anchor="ctr"/>
          <a:lstStyle/>
          <a:p>
            <a:pPr indent="0" marL="0">
              <a:lnSpc>
                <a:spcPct val="115000"/>
              </a:lnSpc>
              <a:buNone/>
            </a:pPr>
            <a:r>
              <a:rPr lang="en-US" sz="1150" dirty="0">
                <a:solidFill>
                  <a:srgbClr val="3F4665"/>
                </a:solidFill>
                <a:latin typeface="Calibri" pitchFamily="34" charset="0"/>
                <a:ea typeface="Calibri" pitchFamily="34" charset="-122"/>
                <a:cs typeface="Calibri" pitchFamily="34" charset="-120"/>
              </a:rPr>
              <a:t>ManagerDashboard and ManagerReportsPage - the whole team, filterable by member, project, week and status.</a:t>
            </a:r>
            <a:endParaRPr lang="en-US" sz="1150" dirty="0"/>
          </a:p>
        </p:txBody>
      </p:sp>
      <p:sp>
        <p:nvSpPr>
          <p:cNvPr id="19" name="Text 17"/>
          <p:cNvSpPr txBox="1"/>
          <p:nvPr/>
        </p:nvSpPr>
        <p:spPr>
          <a:xfrm>
            <a:off x="640080" y="3886200"/>
            <a:ext cx="640080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One component serves both roles</a:t>
            </a:r>
            <a:endParaRPr lang="en-US" sz="1700" dirty="0"/>
          </a:p>
        </p:txBody>
      </p:sp>
      <p:sp>
        <p:nvSpPr>
          <p:cNvPr id="20" name="Text 18"/>
          <p:cNvSpPr txBox="1"/>
          <p:nvPr/>
        </p:nvSpPr>
        <p:spPr>
          <a:xfrm>
            <a:off x="640080" y="4251960"/>
            <a:ext cx="10881360" cy="164592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ReportDetailPage picks its endpoint from the role, then conditionally renders the manager review panel</a:t>
            </a:r>
            <a:endParaRPr lang="en-US" sz="1350" dirty="0"/>
          </a:p>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Version history sits in a sticky sidebar - each version is selectable and shows how many comments it drew</a:t>
            </a:r>
            <a:endParaRPr lang="en-US" sz="1350" dirty="0"/>
          </a:p>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AlertDialog confirmations guard one-way actions: submitting locks editing, approving locks the report</a:t>
            </a:r>
            <a:endParaRPr lang="en-US" sz="1350" dirty="0"/>
          </a:p>
          <a:p>
            <a:pPr marL="342900" indent="-342900">
              <a:spcAft>
                <a:spcPts val="800"/>
              </a:spcAft>
              <a:buSzPct val="100000"/>
              <a:buChar char="•"/>
            </a:pPr>
            <a:r>
              <a:rPr lang="en-US" sz="1350" dirty="0">
                <a:solidFill>
                  <a:srgbClr val="3F4665"/>
                </a:solidFill>
                <a:latin typeface="Calibri" pitchFamily="34" charset="0"/>
                <a:ea typeface="Calibri" pitchFamily="34" charset="-122"/>
                <a:cs typeface="Calibri" pitchFamily="34" charset="-120"/>
              </a:rPr>
              <a:t>Reused throughout: DataTable, StatusBadge, AppLayout, ProtectedRoute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DASHBOARD</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a manager sees first</a:t>
            </a:r>
            <a:endParaRPr lang="en-US" sz="3200" dirty="0"/>
          </a:p>
        </p:txBody>
      </p:sp>
      <p:graphicFrame>
        <p:nvGraphicFramePr>
          <p:cNvPr id="4" name="Chart 0" descr=""/>
          <p:cNvGraphicFramePr/>
          <p:nvPr/>
        </p:nvGraphicFramePr>
        <p:xfrm>
          <a:off x="640080" y="1481328"/>
          <a:ext cx="484632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43600" y="1481328"/>
            <a:ext cx="5577840" cy="3200400"/>
          </a:xfrm>
          <a:prstGeom prst="roundRect">
            <a:avLst>
              <a:gd name="adj" fmla="val 2286"/>
            </a:avLst>
          </a:prstGeom>
          <a:solidFill>
            <a:srgbClr val="F7F9FE"/>
          </a:solidFill>
          <a:ln w="12700">
            <a:solidFill>
              <a:srgbClr val="DDE3F5"/>
            </a:solidFill>
            <a:prstDash val="solid"/>
          </a:ln>
        </p:spPr>
      </p:sp>
      <p:sp>
        <p:nvSpPr>
          <p:cNvPr id="6" name="Text 3"/>
          <p:cNvSpPr txBox="1"/>
          <p:nvPr/>
        </p:nvSpPr>
        <p:spPr>
          <a:xfrm>
            <a:off x="6236208" y="1682496"/>
            <a:ext cx="5029200" cy="329184"/>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On the dashboard today</a:t>
            </a:r>
            <a:endParaRPr lang="en-US" sz="1700" dirty="0"/>
          </a:p>
        </p:txBody>
      </p:sp>
      <p:sp>
        <p:nvSpPr>
          <p:cNvPr id="7" name="Text 4"/>
          <p:cNvSpPr txBox="1"/>
          <p:nvPr/>
        </p:nvSpPr>
        <p:spPr>
          <a:xfrm>
            <a:off x="6236208" y="2084832"/>
            <a:ext cx="4983480" cy="23774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Summary metrics - total reports, compliance rate, pending review, needs correction</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Status distribution across the team</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Report volume per project workspace</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Team reports table, filterable and drillable into any report</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Team Reports page adds a status bar whose legend doubles as a filter</a:t>
            </a:r>
            <a:endParaRPr lang="en-US" sz="1200" dirty="0"/>
          </a:p>
        </p:txBody>
      </p:sp>
      <p:sp>
        <p:nvSpPr>
          <p:cNvPr id="8" name="Text 5"/>
          <p:cNvSpPr txBox="1"/>
          <p:nvPr/>
        </p:nvSpPr>
        <p:spPr>
          <a:xfrm>
            <a:off x="640080" y="4937760"/>
            <a:ext cx="2377440" cy="713232"/>
          </a:xfrm>
          <a:prstGeom prst="rect">
            <a:avLst/>
          </a:prstGeom>
          <a:noFill/>
          <a:ln/>
        </p:spPr>
        <p:txBody>
          <a:bodyPr wrap="square" lIns="0" tIns="0" rIns="0" bIns="0" rtlCol="0" anchor="ctr"/>
          <a:lstStyle/>
          <a:p>
            <a:pPr algn="l" indent="0" marL="0">
              <a:buNone/>
            </a:pPr>
            <a:r>
              <a:rPr lang="en-US" sz="4400" b="1" dirty="0">
                <a:solidFill>
                  <a:srgbClr val="1E2761"/>
                </a:solidFill>
                <a:latin typeface="Cambria" pitchFamily="34" charset="0"/>
                <a:ea typeface="Cambria" pitchFamily="34" charset="-122"/>
                <a:cs typeface="Cambria" pitchFamily="34" charset="-120"/>
              </a:rPr>
              <a:t>17</a:t>
            </a:r>
            <a:endParaRPr lang="en-US" sz="4400" dirty="0"/>
          </a:p>
        </p:txBody>
      </p:sp>
      <p:sp>
        <p:nvSpPr>
          <p:cNvPr id="9" name="Text 6"/>
          <p:cNvSpPr txBox="1"/>
          <p:nvPr/>
        </p:nvSpPr>
        <p:spPr>
          <a:xfrm>
            <a:off x="640080" y="5614416"/>
            <a:ext cx="2377440" cy="457200"/>
          </a:xfrm>
          <a:prstGeom prst="rect">
            <a:avLst/>
          </a:prstGeom>
          <a:noFill/>
          <a:ln/>
        </p:spPr>
        <p:txBody>
          <a:bodyPr wrap="square" lIns="0" tIns="0" rIns="0" bIns="0" rtlCol="0" anchor="ctr"/>
          <a:lstStyle/>
          <a:p>
            <a:pPr algn="l" indent="0" marL="0">
              <a:buNone/>
            </a:pPr>
            <a:r>
              <a:rPr lang="en-US" sz="1200" dirty="0">
                <a:solidFill>
                  <a:srgbClr val="7A82A3"/>
                </a:solidFill>
                <a:latin typeface="Calibri" pitchFamily="34" charset="0"/>
                <a:ea typeface="Calibri" pitchFamily="34" charset="-122"/>
                <a:cs typeface="Calibri" pitchFamily="34" charset="-120"/>
              </a:rPr>
              <a:t>reports seeded</a:t>
            </a:r>
            <a:endParaRPr lang="en-US" sz="1200" dirty="0"/>
          </a:p>
        </p:txBody>
      </p:sp>
      <p:sp>
        <p:nvSpPr>
          <p:cNvPr id="10" name="Text 7"/>
          <p:cNvSpPr txBox="1"/>
          <p:nvPr/>
        </p:nvSpPr>
        <p:spPr>
          <a:xfrm>
            <a:off x="3291840" y="4937760"/>
            <a:ext cx="2377440" cy="713232"/>
          </a:xfrm>
          <a:prstGeom prst="rect">
            <a:avLst/>
          </a:prstGeom>
          <a:noFill/>
          <a:ln/>
        </p:spPr>
        <p:txBody>
          <a:bodyPr wrap="square" lIns="0" tIns="0" rIns="0" bIns="0" rtlCol="0" anchor="ctr"/>
          <a:lstStyle/>
          <a:p>
            <a:pPr algn="l" indent="0" marL="0">
              <a:buNone/>
            </a:pPr>
            <a:r>
              <a:rPr lang="en-US" sz="4400" b="1" dirty="0">
                <a:solidFill>
                  <a:srgbClr val="1E2761"/>
                </a:solidFill>
                <a:latin typeface="Cambria" pitchFamily="34" charset="0"/>
                <a:ea typeface="Cambria" pitchFamily="34" charset="-122"/>
                <a:cs typeface="Cambria" pitchFamily="34" charset="-120"/>
              </a:rPr>
              <a:t>5</a:t>
            </a:r>
            <a:endParaRPr lang="en-US" sz="4400" dirty="0"/>
          </a:p>
        </p:txBody>
      </p:sp>
      <p:sp>
        <p:nvSpPr>
          <p:cNvPr id="11" name="Text 8"/>
          <p:cNvSpPr txBox="1"/>
          <p:nvPr/>
        </p:nvSpPr>
        <p:spPr>
          <a:xfrm>
            <a:off x="3291840" y="5614416"/>
            <a:ext cx="2377440" cy="457200"/>
          </a:xfrm>
          <a:prstGeom prst="rect">
            <a:avLst/>
          </a:prstGeom>
          <a:noFill/>
          <a:ln/>
        </p:spPr>
        <p:txBody>
          <a:bodyPr wrap="square" lIns="0" tIns="0" rIns="0" bIns="0" rtlCol="0" anchor="ctr"/>
          <a:lstStyle/>
          <a:p>
            <a:pPr algn="l" indent="0" marL="0">
              <a:buNone/>
            </a:pPr>
            <a:r>
              <a:rPr lang="en-US" sz="1200" dirty="0">
                <a:solidFill>
                  <a:srgbClr val="7A82A3"/>
                </a:solidFill>
                <a:latin typeface="Calibri" pitchFamily="34" charset="0"/>
                <a:ea typeface="Calibri" pitchFamily="34" charset="-122"/>
                <a:cs typeface="Calibri" pitchFamily="34" charset="-120"/>
              </a:rPr>
              <a:t>users, 1 manager</a:t>
            </a:r>
            <a:endParaRPr lang="en-US" sz="1200" dirty="0"/>
          </a:p>
        </p:txBody>
      </p:sp>
      <p:sp>
        <p:nvSpPr>
          <p:cNvPr id="12" name="Text 9"/>
          <p:cNvSpPr txBox="1"/>
          <p:nvPr/>
        </p:nvSpPr>
        <p:spPr>
          <a:xfrm>
            <a:off x="5943600" y="4937760"/>
            <a:ext cx="2377440" cy="713232"/>
          </a:xfrm>
          <a:prstGeom prst="rect">
            <a:avLst/>
          </a:prstGeom>
          <a:noFill/>
          <a:ln/>
        </p:spPr>
        <p:txBody>
          <a:bodyPr wrap="square" lIns="0" tIns="0" rIns="0" bIns="0" rtlCol="0" anchor="ctr"/>
          <a:lstStyle/>
          <a:p>
            <a:pPr algn="l" indent="0" marL="0">
              <a:buNone/>
            </a:pPr>
            <a:r>
              <a:rPr lang="en-US" sz="4400" b="1" dirty="0">
                <a:solidFill>
                  <a:srgbClr val="1E2761"/>
                </a:solidFill>
                <a:latin typeface="Cambria" pitchFamily="34" charset="0"/>
                <a:ea typeface="Cambria" pitchFamily="34" charset="-122"/>
                <a:cs typeface="Cambria" pitchFamily="34" charset="-120"/>
              </a:rPr>
              <a:t>4</a:t>
            </a:r>
            <a:endParaRPr lang="en-US" sz="4400" dirty="0"/>
          </a:p>
        </p:txBody>
      </p:sp>
      <p:sp>
        <p:nvSpPr>
          <p:cNvPr id="13" name="Text 10"/>
          <p:cNvSpPr txBox="1"/>
          <p:nvPr/>
        </p:nvSpPr>
        <p:spPr>
          <a:xfrm>
            <a:off x="5943600" y="5614416"/>
            <a:ext cx="2377440" cy="457200"/>
          </a:xfrm>
          <a:prstGeom prst="rect">
            <a:avLst/>
          </a:prstGeom>
          <a:noFill/>
          <a:ln/>
        </p:spPr>
        <p:txBody>
          <a:bodyPr wrap="square" lIns="0" tIns="0" rIns="0" bIns="0" rtlCol="0" anchor="ctr"/>
          <a:lstStyle/>
          <a:p>
            <a:pPr algn="l" indent="0" marL="0">
              <a:buNone/>
            </a:pPr>
            <a:r>
              <a:rPr lang="en-US" sz="1200" dirty="0">
                <a:solidFill>
                  <a:srgbClr val="7A82A3"/>
                </a:solidFill>
                <a:latin typeface="Calibri" pitchFamily="34" charset="0"/>
                <a:ea typeface="Calibri" pitchFamily="34" charset="-122"/>
                <a:cs typeface="Calibri" pitchFamily="34" charset="-120"/>
              </a:rPr>
              <a:t>projects</a:t>
            </a:r>
            <a:endParaRPr lang="en-US" sz="1200" dirty="0"/>
          </a:p>
        </p:txBody>
      </p:sp>
      <p:sp>
        <p:nvSpPr>
          <p:cNvPr id="14" name="Text 11"/>
          <p:cNvSpPr txBox="1"/>
          <p:nvPr/>
        </p:nvSpPr>
        <p:spPr>
          <a:xfrm>
            <a:off x="8595360" y="4937760"/>
            <a:ext cx="2743200" cy="713232"/>
          </a:xfrm>
          <a:prstGeom prst="rect">
            <a:avLst/>
          </a:prstGeom>
          <a:noFill/>
          <a:ln/>
        </p:spPr>
        <p:txBody>
          <a:bodyPr wrap="square" lIns="0" tIns="0" rIns="0" bIns="0" rtlCol="0" anchor="ctr"/>
          <a:lstStyle/>
          <a:p>
            <a:pPr algn="l" indent="0" marL="0">
              <a:buNone/>
            </a:pPr>
            <a:r>
              <a:rPr lang="en-US" sz="4400" b="1" dirty="0">
                <a:solidFill>
                  <a:srgbClr val="1E2761"/>
                </a:solidFill>
                <a:latin typeface="Cambria" pitchFamily="34" charset="0"/>
                <a:ea typeface="Cambria" pitchFamily="34" charset="-122"/>
                <a:cs typeface="Cambria" pitchFamily="34" charset="-120"/>
              </a:rPr>
              <a:t>4</a:t>
            </a:r>
            <a:endParaRPr lang="en-US" sz="4400" dirty="0"/>
          </a:p>
        </p:txBody>
      </p:sp>
      <p:sp>
        <p:nvSpPr>
          <p:cNvPr id="15" name="Text 12"/>
          <p:cNvSpPr txBox="1"/>
          <p:nvPr/>
        </p:nvSpPr>
        <p:spPr>
          <a:xfrm>
            <a:off x="8595360" y="5614416"/>
            <a:ext cx="2743200" cy="457200"/>
          </a:xfrm>
          <a:prstGeom prst="rect">
            <a:avLst/>
          </a:prstGeom>
          <a:noFill/>
          <a:ln/>
        </p:spPr>
        <p:txBody>
          <a:bodyPr wrap="square" lIns="0" tIns="0" rIns="0" bIns="0" rtlCol="0" anchor="ctr"/>
          <a:lstStyle/>
          <a:p>
            <a:pPr algn="l" indent="0" marL="0">
              <a:buNone/>
            </a:pPr>
            <a:r>
              <a:rPr lang="en-US" sz="1200" dirty="0">
                <a:solidFill>
                  <a:srgbClr val="7A82A3"/>
                </a:solidFill>
                <a:latin typeface="Calibri" pitchFamily="34" charset="0"/>
                <a:ea typeface="Calibri" pitchFamily="34" charset="-122"/>
                <a:cs typeface="Calibri" pitchFamily="34" charset="-120"/>
              </a:rPr>
              <a:t>statuses represented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AI - BONUS FEATURE</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Assistant grounded in real report data</a:t>
            </a:r>
            <a:endParaRPr lang="en-US" sz="3200" dirty="0"/>
          </a:p>
        </p:txBody>
      </p:sp>
      <p:sp>
        <p:nvSpPr>
          <p:cNvPr id="4" name="Shape 2"/>
          <p:cNvSpPr/>
          <p:nvPr/>
        </p:nvSpPr>
        <p:spPr>
          <a:xfrm>
            <a:off x="640080" y="1463040"/>
            <a:ext cx="2578608" cy="2057400"/>
          </a:xfrm>
          <a:prstGeom prst="roundRect">
            <a:avLst>
              <a:gd name="adj" fmla="val 3556"/>
            </a:avLst>
          </a:prstGeom>
          <a:solidFill>
            <a:srgbClr val="F7F9FE"/>
          </a:solidFill>
          <a:ln w="12700">
            <a:solidFill>
              <a:srgbClr val="DDE3F5"/>
            </a:solidFill>
            <a:prstDash val="solid"/>
          </a:ln>
        </p:spPr>
      </p:sp>
      <p:sp>
        <p:nvSpPr>
          <p:cNvPr id="5" name="Shape 3"/>
          <p:cNvSpPr/>
          <p:nvPr/>
        </p:nvSpPr>
        <p:spPr>
          <a:xfrm>
            <a:off x="859536" y="1682496"/>
            <a:ext cx="402336" cy="402336"/>
          </a:xfrm>
          <a:prstGeom prst="ellipse">
            <a:avLst/>
          </a:prstGeom>
          <a:solidFill>
            <a:srgbClr val="1E2761"/>
          </a:solidFill>
          <a:ln/>
        </p:spPr>
      </p:sp>
      <p:sp>
        <p:nvSpPr>
          <p:cNvPr id="6" name="Text 4"/>
          <p:cNvSpPr txBox="1"/>
          <p:nvPr/>
        </p:nvSpPr>
        <p:spPr>
          <a:xfrm>
            <a:off x="859536" y="16824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59536" y="2139696"/>
            <a:ext cx="2194560" cy="292608"/>
          </a:xfrm>
          <a:prstGeom prst="rect">
            <a:avLst/>
          </a:prstGeom>
          <a:noFill/>
          <a:ln/>
        </p:spPr>
        <p:txBody>
          <a:bodyPr wrap="square" lIns="0" tIns="0" rIns="0" bIns="0" rtlCol="0" anchor="ctr"/>
          <a:lstStyle/>
          <a:p>
            <a:pPr indent="0" marL="0">
              <a:buNone/>
            </a:pPr>
            <a:r>
              <a:rPr lang="en-US" sz="1500" b="1" dirty="0">
                <a:solidFill>
                  <a:srgbClr val="1B1F3B"/>
                </a:solidFill>
                <a:latin typeface="Cambria" pitchFamily="34" charset="0"/>
                <a:ea typeface="Cambria" pitchFamily="34" charset="-122"/>
                <a:cs typeface="Cambria" pitchFamily="34" charset="-120"/>
              </a:rPr>
              <a:t>Retrieve</a:t>
            </a:r>
            <a:endParaRPr lang="en-US" sz="1500" dirty="0"/>
          </a:p>
        </p:txBody>
      </p:sp>
      <p:sp>
        <p:nvSpPr>
          <p:cNvPr id="8" name="Text 6"/>
          <p:cNvSpPr txBox="1"/>
          <p:nvPr/>
        </p:nvSpPr>
        <p:spPr>
          <a:xfrm>
            <a:off x="859536" y="2450592"/>
            <a:ext cx="2157984" cy="960120"/>
          </a:xfrm>
          <a:prstGeom prst="rect">
            <a:avLst/>
          </a:prstGeom>
          <a:noFill/>
          <a:ln/>
        </p:spPr>
        <p:txBody>
          <a:bodyPr wrap="square" lIns="0" tIns="0" rIns="0" bIns="0" rtlCol="0" anchor="ctr"/>
          <a:lstStyle/>
          <a:p>
            <a:pPr indent="0" marL="0">
              <a:lnSpc>
                <a:spcPct val="115000"/>
              </a:lnSpc>
              <a:buNone/>
            </a:pPr>
            <a:r>
              <a:rPr lang="en-US" sz="1050" dirty="0">
                <a:solidFill>
                  <a:srgbClr val="3F4665"/>
                </a:solidFill>
                <a:latin typeface="Calibri" pitchFamily="34" charset="0"/>
                <a:ea typeface="Calibri" pitchFamily="34" charset="-122"/>
                <a:cs typeface="Calibri" pitchFamily="34" charset="-120"/>
              </a:rPr>
              <a:t>Query the 15 most recent reports with their latest version - tasks, blockers, achievements, hours, latest comment</a:t>
            </a:r>
            <a:endParaRPr lang="en-US" sz="1050" dirty="0"/>
          </a:p>
        </p:txBody>
      </p:sp>
      <p:sp>
        <p:nvSpPr>
          <p:cNvPr id="9" name="Shape 7"/>
          <p:cNvSpPr/>
          <p:nvPr/>
        </p:nvSpPr>
        <p:spPr>
          <a:xfrm>
            <a:off x="3246120" y="2468880"/>
            <a:ext cx="128016" cy="0"/>
          </a:xfrm>
          <a:prstGeom prst="line">
            <a:avLst/>
          </a:prstGeom>
          <a:noFill/>
          <a:ln w="19050">
            <a:solidFill>
              <a:srgbClr val="7A82A3"/>
            </a:solidFill>
            <a:prstDash val="solid"/>
            <a:tailEnd type="triangle"/>
          </a:ln>
        </p:spPr>
      </p:sp>
      <p:sp>
        <p:nvSpPr>
          <p:cNvPr id="10" name="Shape 8"/>
          <p:cNvSpPr/>
          <p:nvPr/>
        </p:nvSpPr>
        <p:spPr>
          <a:xfrm>
            <a:off x="3401568" y="1463040"/>
            <a:ext cx="2578608" cy="2057400"/>
          </a:xfrm>
          <a:prstGeom prst="roundRect">
            <a:avLst>
              <a:gd name="adj" fmla="val 3556"/>
            </a:avLst>
          </a:prstGeom>
          <a:solidFill>
            <a:srgbClr val="F7F9FE"/>
          </a:solidFill>
          <a:ln w="12700">
            <a:solidFill>
              <a:srgbClr val="DDE3F5"/>
            </a:solidFill>
            <a:prstDash val="solid"/>
          </a:ln>
        </p:spPr>
      </p:sp>
      <p:sp>
        <p:nvSpPr>
          <p:cNvPr id="11" name="Shape 9"/>
          <p:cNvSpPr/>
          <p:nvPr/>
        </p:nvSpPr>
        <p:spPr>
          <a:xfrm>
            <a:off x="3621024" y="1682496"/>
            <a:ext cx="402336" cy="402336"/>
          </a:xfrm>
          <a:prstGeom prst="ellipse">
            <a:avLst/>
          </a:prstGeom>
          <a:solidFill>
            <a:srgbClr val="1E2761"/>
          </a:solidFill>
          <a:ln/>
        </p:spPr>
      </p:sp>
      <p:sp>
        <p:nvSpPr>
          <p:cNvPr id="12" name="Text 10"/>
          <p:cNvSpPr txBox="1"/>
          <p:nvPr/>
        </p:nvSpPr>
        <p:spPr>
          <a:xfrm>
            <a:off x="3621024" y="16824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21024" y="2139696"/>
            <a:ext cx="2194560" cy="292608"/>
          </a:xfrm>
          <a:prstGeom prst="rect">
            <a:avLst/>
          </a:prstGeom>
          <a:noFill/>
          <a:ln/>
        </p:spPr>
        <p:txBody>
          <a:bodyPr wrap="square" lIns="0" tIns="0" rIns="0" bIns="0" rtlCol="0" anchor="ctr"/>
          <a:lstStyle/>
          <a:p>
            <a:pPr indent="0" marL="0">
              <a:buNone/>
            </a:pPr>
            <a:r>
              <a:rPr lang="en-US" sz="1500" b="1" dirty="0">
                <a:solidFill>
                  <a:srgbClr val="1B1F3B"/>
                </a:solidFill>
                <a:latin typeface="Cambria" pitchFamily="34" charset="0"/>
                <a:ea typeface="Cambria" pitchFamily="34" charset="-122"/>
                <a:cs typeface="Cambria" pitchFamily="34" charset="-120"/>
              </a:rPr>
              <a:t>Format</a:t>
            </a:r>
            <a:endParaRPr lang="en-US" sz="1500" dirty="0"/>
          </a:p>
        </p:txBody>
      </p:sp>
      <p:sp>
        <p:nvSpPr>
          <p:cNvPr id="14" name="Text 12"/>
          <p:cNvSpPr txBox="1"/>
          <p:nvPr/>
        </p:nvSpPr>
        <p:spPr>
          <a:xfrm>
            <a:off x="3621024" y="2450592"/>
            <a:ext cx="2157984" cy="960120"/>
          </a:xfrm>
          <a:prstGeom prst="rect">
            <a:avLst/>
          </a:prstGeom>
          <a:noFill/>
          <a:ln/>
        </p:spPr>
        <p:txBody>
          <a:bodyPr wrap="square" lIns="0" tIns="0" rIns="0" bIns="0" rtlCol="0" anchor="ctr"/>
          <a:lstStyle/>
          <a:p>
            <a:pPr indent="0" marL="0">
              <a:lnSpc>
                <a:spcPct val="115000"/>
              </a:lnSpc>
              <a:buNone/>
            </a:pPr>
            <a:r>
              <a:rPr lang="en-US" sz="1050" dirty="0">
                <a:solidFill>
                  <a:srgbClr val="3F4665"/>
                </a:solidFill>
                <a:latin typeface="Calibri" pitchFamily="34" charset="0"/>
                <a:ea typeface="Calibri" pitchFamily="34" charset="-122"/>
                <a:cs typeface="Calibri" pitchFamily="34" charset="-120"/>
              </a:rPr>
              <a:t>Flatten into a compact structured text block, with key issues and highlights explicitly marked</a:t>
            </a:r>
            <a:endParaRPr lang="en-US" sz="1050" dirty="0"/>
          </a:p>
        </p:txBody>
      </p:sp>
      <p:sp>
        <p:nvSpPr>
          <p:cNvPr id="15" name="Shape 13"/>
          <p:cNvSpPr/>
          <p:nvPr/>
        </p:nvSpPr>
        <p:spPr>
          <a:xfrm>
            <a:off x="6007608" y="2468880"/>
            <a:ext cx="128016" cy="0"/>
          </a:xfrm>
          <a:prstGeom prst="line">
            <a:avLst/>
          </a:prstGeom>
          <a:noFill/>
          <a:ln w="19050">
            <a:solidFill>
              <a:srgbClr val="7A82A3"/>
            </a:solidFill>
            <a:prstDash val="solid"/>
            <a:tailEnd type="triangle"/>
          </a:ln>
        </p:spPr>
      </p:sp>
      <p:sp>
        <p:nvSpPr>
          <p:cNvPr id="16" name="Shape 14"/>
          <p:cNvSpPr/>
          <p:nvPr/>
        </p:nvSpPr>
        <p:spPr>
          <a:xfrm>
            <a:off x="6163056" y="1463040"/>
            <a:ext cx="2578608" cy="2057400"/>
          </a:xfrm>
          <a:prstGeom prst="roundRect">
            <a:avLst>
              <a:gd name="adj" fmla="val 3556"/>
            </a:avLst>
          </a:prstGeom>
          <a:solidFill>
            <a:srgbClr val="F7F9FE"/>
          </a:solidFill>
          <a:ln w="12700">
            <a:solidFill>
              <a:srgbClr val="DDE3F5"/>
            </a:solidFill>
            <a:prstDash val="solid"/>
          </a:ln>
        </p:spPr>
      </p:sp>
      <p:sp>
        <p:nvSpPr>
          <p:cNvPr id="17" name="Shape 15"/>
          <p:cNvSpPr/>
          <p:nvPr/>
        </p:nvSpPr>
        <p:spPr>
          <a:xfrm>
            <a:off x="6382512" y="1682496"/>
            <a:ext cx="402336" cy="402336"/>
          </a:xfrm>
          <a:prstGeom prst="ellipse">
            <a:avLst/>
          </a:prstGeom>
          <a:solidFill>
            <a:srgbClr val="1E2761"/>
          </a:solidFill>
          <a:ln/>
        </p:spPr>
      </p:sp>
      <p:sp>
        <p:nvSpPr>
          <p:cNvPr id="18" name="Text 16"/>
          <p:cNvSpPr txBox="1"/>
          <p:nvPr/>
        </p:nvSpPr>
        <p:spPr>
          <a:xfrm>
            <a:off x="6382512" y="16824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6382512" y="2139696"/>
            <a:ext cx="2194560" cy="292608"/>
          </a:xfrm>
          <a:prstGeom prst="rect">
            <a:avLst/>
          </a:prstGeom>
          <a:noFill/>
          <a:ln/>
        </p:spPr>
        <p:txBody>
          <a:bodyPr wrap="square" lIns="0" tIns="0" rIns="0" bIns="0" rtlCol="0" anchor="ctr"/>
          <a:lstStyle/>
          <a:p>
            <a:pPr indent="0" marL="0">
              <a:buNone/>
            </a:pPr>
            <a:r>
              <a:rPr lang="en-US" sz="1500" b="1" dirty="0">
                <a:solidFill>
                  <a:srgbClr val="1B1F3B"/>
                </a:solidFill>
                <a:latin typeface="Cambria" pitchFamily="34" charset="0"/>
                <a:ea typeface="Cambria" pitchFamily="34" charset="-122"/>
                <a:cs typeface="Cambria" pitchFamily="34" charset="-120"/>
              </a:rPr>
              <a:t>Ground</a:t>
            </a:r>
            <a:endParaRPr lang="en-US" sz="1500" dirty="0"/>
          </a:p>
        </p:txBody>
      </p:sp>
      <p:sp>
        <p:nvSpPr>
          <p:cNvPr id="20" name="Text 18"/>
          <p:cNvSpPr txBox="1"/>
          <p:nvPr/>
        </p:nvSpPr>
        <p:spPr>
          <a:xfrm>
            <a:off x="6382512" y="2450592"/>
            <a:ext cx="2157984" cy="960120"/>
          </a:xfrm>
          <a:prstGeom prst="rect">
            <a:avLst/>
          </a:prstGeom>
          <a:noFill/>
          <a:ln/>
        </p:spPr>
        <p:txBody>
          <a:bodyPr wrap="square" lIns="0" tIns="0" rIns="0" bIns="0" rtlCol="0" anchor="ctr"/>
          <a:lstStyle/>
          <a:p>
            <a:pPr indent="0" marL="0">
              <a:lnSpc>
                <a:spcPct val="115000"/>
              </a:lnSpc>
              <a:buNone/>
            </a:pPr>
            <a:r>
              <a:rPr lang="en-US" sz="1050" dirty="0">
                <a:solidFill>
                  <a:srgbClr val="3F4665"/>
                </a:solidFill>
                <a:latin typeface="Calibri" pitchFamily="34" charset="0"/>
                <a:ea typeface="Calibri" pitchFamily="34" charset="-122"/>
                <a:cs typeface="Calibri" pitchFamily="34" charset="-120"/>
              </a:rPr>
              <a:t>Inject as a system message; the question stays a separate user message so input cannot override instructions</a:t>
            </a:r>
            <a:endParaRPr lang="en-US" sz="1050" dirty="0"/>
          </a:p>
        </p:txBody>
      </p:sp>
      <p:sp>
        <p:nvSpPr>
          <p:cNvPr id="21" name="Shape 19"/>
          <p:cNvSpPr/>
          <p:nvPr/>
        </p:nvSpPr>
        <p:spPr>
          <a:xfrm>
            <a:off x="8769096" y="2468880"/>
            <a:ext cx="128016" cy="0"/>
          </a:xfrm>
          <a:prstGeom prst="line">
            <a:avLst/>
          </a:prstGeom>
          <a:noFill/>
          <a:ln w="19050">
            <a:solidFill>
              <a:srgbClr val="7A82A3"/>
            </a:solidFill>
            <a:prstDash val="solid"/>
            <a:tailEnd type="triangle"/>
          </a:ln>
        </p:spPr>
      </p:sp>
      <p:sp>
        <p:nvSpPr>
          <p:cNvPr id="22" name="Shape 20"/>
          <p:cNvSpPr/>
          <p:nvPr/>
        </p:nvSpPr>
        <p:spPr>
          <a:xfrm>
            <a:off x="8924544" y="1463040"/>
            <a:ext cx="2578608" cy="2057400"/>
          </a:xfrm>
          <a:prstGeom prst="roundRect">
            <a:avLst>
              <a:gd name="adj" fmla="val 3556"/>
            </a:avLst>
          </a:prstGeom>
          <a:solidFill>
            <a:srgbClr val="F7F9FE"/>
          </a:solidFill>
          <a:ln w="12700">
            <a:solidFill>
              <a:srgbClr val="DDE3F5"/>
            </a:solidFill>
            <a:prstDash val="solid"/>
          </a:ln>
        </p:spPr>
      </p:sp>
      <p:sp>
        <p:nvSpPr>
          <p:cNvPr id="23" name="Shape 21"/>
          <p:cNvSpPr/>
          <p:nvPr/>
        </p:nvSpPr>
        <p:spPr>
          <a:xfrm>
            <a:off x="9144000" y="1682496"/>
            <a:ext cx="402336" cy="402336"/>
          </a:xfrm>
          <a:prstGeom prst="ellipse">
            <a:avLst/>
          </a:prstGeom>
          <a:solidFill>
            <a:srgbClr val="1E2761"/>
          </a:solidFill>
          <a:ln/>
        </p:spPr>
      </p:sp>
      <p:sp>
        <p:nvSpPr>
          <p:cNvPr id="24" name="Text 22"/>
          <p:cNvSpPr txBox="1"/>
          <p:nvPr/>
        </p:nvSpPr>
        <p:spPr>
          <a:xfrm>
            <a:off x="9144000" y="16824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txBox="1"/>
          <p:nvPr/>
        </p:nvSpPr>
        <p:spPr>
          <a:xfrm>
            <a:off x="9144000" y="2139696"/>
            <a:ext cx="2194560" cy="292608"/>
          </a:xfrm>
          <a:prstGeom prst="rect">
            <a:avLst/>
          </a:prstGeom>
          <a:noFill/>
          <a:ln/>
        </p:spPr>
        <p:txBody>
          <a:bodyPr wrap="square" lIns="0" tIns="0" rIns="0" bIns="0" rtlCol="0" anchor="ctr"/>
          <a:lstStyle/>
          <a:p>
            <a:pPr indent="0" marL="0">
              <a:buNone/>
            </a:pPr>
            <a:r>
              <a:rPr lang="en-US" sz="1500" b="1" dirty="0">
                <a:solidFill>
                  <a:srgbClr val="1B1F3B"/>
                </a:solidFill>
                <a:latin typeface="Cambria" pitchFamily="34" charset="0"/>
                <a:ea typeface="Cambria" pitchFamily="34" charset="-122"/>
                <a:cs typeface="Cambria" pitchFamily="34" charset="-120"/>
              </a:rPr>
              <a:t>Answer</a:t>
            </a:r>
            <a:endParaRPr lang="en-US" sz="1500" dirty="0"/>
          </a:p>
        </p:txBody>
      </p:sp>
      <p:sp>
        <p:nvSpPr>
          <p:cNvPr id="26" name="Text 24"/>
          <p:cNvSpPr txBox="1"/>
          <p:nvPr/>
        </p:nvSpPr>
        <p:spPr>
          <a:xfrm>
            <a:off x="9144000" y="2450592"/>
            <a:ext cx="2157984" cy="960120"/>
          </a:xfrm>
          <a:prstGeom prst="rect">
            <a:avLst/>
          </a:prstGeom>
          <a:noFill/>
          <a:ln/>
        </p:spPr>
        <p:txBody>
          <a:bodyPr wrap="square" lIns="0" tIns="0" rIns="0" bIns="0" rtlCol="0" anchor="ctr"/>
          <a:lstStyle/>
          <a:p>
            <a:pPr indent="0" marL="0">
              <a:lnSpc>
                <a:spcPct val="115000"/>
              </a:lnSpc>
              <a:buNone/>
            </a:pPr>
            <a:r>
              <a:rPr lang="en-US" sz="1050" dirty="0">
                <a:solidFill>
                  <a:srgbClr val="3F4665"/>
                </a:solidFill>
                <a:latin typeface="Calibri" pitchFamily="34" charset="0"/>
                <a:ea typeface="Calibri" pitchFamily="34" charset="-122"/>
                <a:cs typeface="Calibri" pitchFamily="34" charset="-120"/>
              </a:rPr>
              <a:t>OpenRouter returns markdown, rendered in a floating chat widget</a:t>
            </a:r>
            <a:endParaRPr lang="en-US" sz="1050" dirty="0"/>
          </a:p>
        </p:txBody>
      </p:sp>
      <p:sp>
        <p:nvSpPr>
          <p:cNvPr id="27" name="Shape 25"/>
          <p:cNvSpPr/>
          <p:nvPr/>
        </p:nvSpPr>
        <p:spPr>
          <a:xfrm>
            <a:off x="640080" y="3730752"/>
            <a:ext cx="5257800" cy="2103120"/>
          </a:xfrm>
          <a:prstGeom prst="roundRect">
            <a:avLst>
              <a:gd name="adj" fmla="val 3478"/>
            </a:avLst>
          </a:prstGeom>
          <a:solidFill>
            <a:srgbClr val="F7F9FE"/>
          </a:solidFill>
          <a:ln w="12700">
            <a:solidFill>
              <a:srgbClr val="DDE3F5"/>
            </a:solidFill>
            <a:prstDash val="solid"/>
          </a:ln>
        </p:spPr>
      </p:sp>
      <p:sp>
        <p:nvSpPr>
          <p:cNvPr id="28" name="Text 26"/>
          <p:cNvSpPr txBox="1"/>
          <p:nvPr/>
        </p:nvSpPr>
        <p:spPr>
          <a:xfrm>
            <a:off x="932688" y="3895344"/>
            <a:ext cx="4572000" cy="310896"/>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Design choices</a:t>
            </a:r>
            <a:endParaRPr lang="en-US" sz="1600" dirty="0"/>
          </a:p>
        </p:txBody>
      </p:sp>
      <p:sp>
        <p:nvSpPr>
          <p:cNvPr id="29" name="Text 27"/>
          <p:cNvSpPr txBox="1"/>
          <p:nvPr/>
        </p:nvSpPr>
        <p:spPr>
          <a:xfrm>
            <a:off x="932688" y="4242816"/>
            <a:ext cx="4663440" cy="146304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3F4665"/>
                </a:solidFill>
                <a:latin typeface="Calibri" pitchFamily="34" charset="0"/>
                <a:ea typeface="Calibri" pitchFamily="34" charset="-122"/>
                <a:cs typeface="Calibri" pitchFamily="34" charset="-120"/>
              </a:rPr>
              <a:t>Retrieval-augmented context, not fine-tuning - data changes weekly</a:t>
            </a:r>
            <a:endParaRPr lang="en-US" sz="1150" dirty="0"/>
          </a:p>
          <a:p>
            <a:pPr marL="342900" indent="-342900">
              <a:spcAft>
                <a:spcPts val="800"/>
              </a:spcAft>
              <a:buSzPct val="100000"/>
              <a:buChar char="•"/>
            </a:pPr>
            <a:r>
              <a:rPr lang="en-US" sz="1150" dirty="0">
                <a:solidFill>
                  <a:srgbClr val="3F4665"/>
                </a:solidFill>
                <a:latin typeface="Calibri" pitchFamily="34" charset="0"/>
                <a:ea typeface="Calibri" pitchFamily="34" charset="-122"/>
                <a:cs typeface="Calibri" pitchFamily="34" charset="-120"/>
              </a:rPr>
              <a:t>Deterministic fallback if the key is missing or the API fails, so a demo never dies</a:t>
            </a:r>
            <a:endParaRPr lang="en-US" sz="1150" dirty="0"/>
          </a:p>
          <a:p>
            <a:pPr marL="342900" indent="-342900">
              <a:spcAft>
                <a:spcPts val="800"/>
              </a:spcAft>
              <a:buSzPct val="100000"/>
              <a:buChar char="•"/>
            </a:pPr>
            <a:r>
              <a:rPr lang="en-US" sz="1150" dirty="0">
                <a:solidFill>
                  <a:srgbClr val="3F4665"/>
                </a:solidFill>
                <a:latin typeface="Calibri" pitchFamily="34" charset="0"/>
                <a:ea typeface="Calibri" pitchFamily="34" charset="-122"/>
                <a:cs typeface="Calibri" pitchFamily="34" charset="-120"/>
              </a:rPr>
              <a:t>Context capped at 15 reports to bound tokens and exposure</a:t>
            </a:r>
            <a:endParaRPr lang="en-US" sz="1150" dirty="0"/>
          </a:p>
        </p:txBody>
      </p:sp>
      <p:sp>
        <p:nvSpPr>
          <p:cNvPr id="30" name="Shape 28"/>
          <p:cNvSpPr/>
          <p:nvPr/>
        </p:nvSpPr>
        <p:spPr>
          <a:xfrm>
            <a:off x="6263640" y="3730752"/>
            <a:ext cx="5257800" cy="2103120"/>
          </a:xfrm>
          <a:prstGeom prst="roundRect">
            <a:avLst>
              <a:gd name="adj" fmla="val 3478"/>
            </a:avLst>
          </a:prstGeom>
          <a:solidFill>
            <a:srgbClr val="F7F9FE"/>
          </a:solidFill>
          <a:ln w="12700">
            <a:solidFill>
              <a:srgbClr val="DDE3F5"/>
            </a:solidFill>
            <a:prstDash val="solid"/>
          </a:ln>
        </p:spPr>
      </p:sp>
      <p:sp>
        <p:nvSpPr>
          <p:cNvPr id="31" name="Text 29"/>
          <p:cNvSpPr txBox="1"/>
          <p:nvPr/>
        </p:nvSpPr>
        <p:spPr>
          <a:xfrm>
            <a:off x="6556248" y="3895344"/>
            <a:ext cx="4572000" cy="310896"/>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Data privacy</a:t>
            </a:r>
            <a:endParaRPr lang="en-US" sz="1600" dirty="0"/>
          </a:p>
        </p:txBody>
      </p:sp>
      <p:sp>
        <p:nvSpPr>
          <p:cNvPr id="32" name="Text 30"/>
          <p:cNvSpPr txBox="1"/>
          <p:nvPr/>
        </p:nvSpPr>
        <p:spPr>
          <a:xfrm>
            <a:off x="6556248" y="4242816"/>
            <a:ext cx="4663440" cy="146304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3F4665"/>
                </a:solidFill>
                <a:latin typeface="Calibri" pitchFamily="34" charset="0"/>
                <a:ea typeface="Calibri" pitchFamily="34" charset="-122"/>
                <a:cs typeface="Calibri" pitchFamily="34" charset="-120"/>
              </a:rPr>
              <a:t>Only report content a manager may already read is ever sent</a:t>
            </a:r>
            <a:endParaRPr lang="en-US" sz="1150" dirty="0"/>
          </a:p>
          <a:p>
            <a:pPr marL="342900" indent="-342900">
              <a:spcAft>
                <a:spcPts val="800"/>
              </a:spcAft>
              <a:buSzPct val="100000"/>
              <a:buChar char="•"/>
            </a:pPr>
            <a:r>
              <a:rPr lang="en-US" sz="1150" dirty="0">
                <a:solidFill>
                  <a:srgbClr val="3F4665"/>
                </a:solidFill>
                <a:latin typeface="Calibri" pitchFamily="34" charset="0"/>
                <a:ea typeface="Calibri" pitchFamily="34" charset="-122"/>
                <a:cs typeface="Calibri" pitchFamily="34" charset="-120"/>
              </a:rPr>
              <a:t>No password hashes or credentials enter the context</a:t>
            </a:r>
            <a:endParaRPr lang="en-US" sz="1150" dirty="0"/>
          </a:p>
          <a:p>
            <a:pPr marL="342900" indent="-342900">
              <a:spcAft>
                <a:spcPts val="800"/>
              </a:spcAft>
              <a:buSzPct val="100000"/>
              <a:buChar char="•"/>
            </a:pPr>
            <a:r>
              <a:rPr lang="en-US" sz="1150" dirty="0">
                <a:solidFill>
                  <a:srgbClr val="3F4665"/>
                </a:solidFill>
                <a:latin typeface="Calibri" pitchFamily="34" charset="0"/>
                <a:ea typeface="Calibri" pitchFamily="34" charset="-122"/>
                <a:cs typeface="Calibri" pitchFamily="34" charset="-120"/>
              </a:rPr>
              <a:t>The API key stays server-side, never reaching the browser</a:t>
            </a:r>
            <a:endParaRPr lang="en-US" sz="1150" dirty="0"/>
          </a:p>
          <a:p>
            <a:pPr marL="342900" indent="-342900">
              <a:spcAft>
                <a:spcPts val="800"/>
              </a:spcAft>
              <a:buSzPct val="100000"/>
              <a:buChar char="•"/>
            </a:pPr>
            <a:r>
              <a:rPr lang="en-US" sz="1150" dirty="0">
                <a:solidFill>
                  <a:srgbClr val="3F4665"/>
                </a:solidFill>
                <a:latin typeface="Calibri" pitchFamily="34" charset="0"/>
                <a:ea typeface="Calibri" pitchFamily="34" charset="-122"/>
                <a:cs typeface="Calibri" pitchFamily="34" charset="-120"/>
              </a:rPr>
              <a:t>Honest limit: data leaves to a third party - production needs redaction or a self-hosted model</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TESTING &amp; DATA</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Proving the rules hold</a:t>
            </a:r>
            <a:endParaRPr lang="en-US" sz="3200" dirty="0"/>
          </a:p>
        </p:txBody>
      </p:sp>
      <p:sp>
        <p:nvSpPr>
          <p:cNvPr id="4" name="Text 2"/>
          <p:cNvSpPr txBox="1"/>
          <p:nvPr/>
        </p:nvSpPr>
        <p:spPr>
          <a:xfrm>
            <a:off x="640080" y="1508760"/>
            <a:ext cx="2468880" cy="713232"/>
          </a:xfrm>
          <a:prstGeom prst="rect">
            <a:avLst/>
          </a:prstGeom>
          <a:noFill/>
          <a:ln/>
        </p:spPr>
        <p:txBody>
          <a:bodyPr wrap="square" lIns="0" tIns="0" rIns="0" bIns="0" rtlCol="0" anchor="ctr"/>
          <a:lstStyle/>
          <a:p>
            <a:pPr algn="l" indent="0" marL="0">
              <a:buNone/>
            </a:pPr>
            <a:r>
              <a:rPr lang="en-US" sz="4400" b="1" dirty="0">
                <a:solidFill>
                  <a:srgbClr val="1F7A5A"/>
                </a:solidFill>
                <a:latin typeface="Cambria" pitchFamily="34" charset="0"/>
                <a:ea typeface="Cambria" pitchFamily="34" charset="-122"/>
                <a:cs typeface="Cambria" pitchFamily="34" charset="-120"/>
              </a:rPr>
              <a:t>33</a:t>
            </a:r>
            <a:endParaRPr lang="en-US" sz="4400" dirty="0"/>
          </a:p>
        </p:txBody>
      </p:sp>
      <p:sp>
        <p:nvSpPr>
          <p:cNvPr id="5" name="Text 3"/>
          <p:cNvSpPr txBox="1"/>
          <p:nvPr/>
        </p:nvSpPr>
        <p:spPr>
          <a:xfrm>
            <a:off x="640080" y="2185416"/>
            <a:ext cx="2468880" cy="457200"/>
          </a:xfrm>
          <a:prstGeom prst="rect">
            <a:avLst/>
          </a:prstGeom>
          <a:noFill/>
          <a:ln/>
        </p:spPr>
        <p:txBody>
          <a:bodyPr wrap="square" lIns="0" tIns="0" rIns="0" bIns="0" rtlCol="0" anchor="ctr"/>
          <a:lstStyle/>
          <a:p>
            <a:pPr algn="l" indent="0" marL="0">
              <a:buNone/>
            </a:pPr>
            <a:r>
              <a:rPr lang="en-US" sz="1200" dirty="0">
                <a:solidFill>
                  <a:srgbClr val="7A82A3"/>
                </a:solidFill>
                <a:latin typeface="Calibri" pitchFamily="34" charset="0"/>
                <a:ea typeface="Calibri" pitchFamily="34" charset="-122"/>
                <a:cs typeface="Calibri" pitchFamily="34" charset="-120"/>
              </a:rPr>
              <a:t>tests passing</a:t>
            </a:r>
            <a:endParaRPr lang="en-US" sz="1200" dirty="0"/>
          </a:p>
        </p:txBody>
      </p:sp>
      <p:sp>
        <p:nvSpPr>
          <p:cNvPr id="6" name="Text 4"/>
          <p:cNvSpPr txBox="1"/>
          <p:nvPr/>
        </p:nvSpPr>
        <p:spPr>
          <a:xfrm>
            <a:off x="3337560" y="1508760"/>
            <a:ext cx="2468880" cy="713232"/>
          </a:xfrm>
          <a:prstGeom prst="rect">
            <a:avLst/>
          </a:prstGeom>
          <a:noFill/>
          <a:ln/>
        </p:spPr>
        <p:txBody>
          <a:bodyPr wrap="square" lIns="0" tIns="0" rIns="0" bIns="0" rtlCol="0" anchor="ctr"/>
          <a:lstStyle/>
          <a:p>
            <a:pPr algn="l" indent="0" marL="0">
              <a:buNone/>
            </a:pPr>
            <a:r>
              <a:rPr lang="en-US" sz="4400" b="1" dirty="0">
                <a:solidFill>
                  <a:srgbClr val="1E2761"/>
                </a:solidFill>
                <a:latin typeface="Cambria" pitchFamily="34" charset="0"/>
                <a:ea typeface="Cambria" pitchFamily="34" charset="-122"/>
                <a:cs typeface="Cambria" pitchFamily="34" charset="-120"/>
              </a:rPr>
              <a:t>11</a:t>
            </a:r>
            <a:endParaRPr lang="en-US" sz="4400" dirty="0"/>
          </a:p>
        </p:txBody>
      </p:sp>
      <p:sp>
        <p:nvSpPr>
          <p:cNvPr id="7" name="Text 5"/>
          <p:cNvSpPr txBox="1"/>
          <p:nvPr/>
        </p:nvSpPr>
        <p:spPr>
          <a:xfrm>
            <a:off x="3337560" y="2185416"/>
            <a:ext cx="2468880" cy="457200"/>
          </a:xfrm>
          <a:prstGeom prst="rect">
            <a:avLst/>
          </a:prstGeom>
          <a:noFill/>
          <a:ln/>
        </p:spPr>
        <p:txBody>
          <a:bodyPr wrap="square" lIns="0" tIns="0" rIns="0" bIns="0" rtlCol="0" anchor="ctr"/>
          <a:lstStyle/>
          <a:p>
            <a:pPr algn="l" indent="0" marL="0">
              <a:buNone/>
            </a:pPr>
            <a:r>
              <a:rPr lang="en-US" sz="1200" dirty="0">
                <a:solidFill>
                  <a:srgbClr val="7A82A3"/>
                </a:solidFill>
                <a:latin typeface="Calibri" pitchFamily="34" charset="0"/>
                <a:ea typeface="Calibri" pitchFamily="34" charset="-122"/>
                <a:cs typeface="Calibri" pitchFamily="34" charset="-120"/>
              </a:rPr>
              <a:t>spec files</a:t>
            </a:r>
            <a:endParaRPr lang="en-US" sz="1200" dirty="0"/>
          </a:p>
        </p:txBody>
      </p:sp>
      <p:sp>
        <p:nvSpPr>
          <p:cNvPr id="8" name="Text 6"/>
          <p:cNvSpPr txBox="1"/>
          <p:nvPr/>
        </p:nvSpPr>
        <p:spPr>
          <a:xfrm>
            <a:off x="6035040" y="1508760"/>
            <a:ext cx="2468880" cy="713232"/>
          </a:xfrm>
          <a:prstGeom prst="rect">
            <a:avLst/>
          </a:prstGeom>
          <a:noFill/>
          <a:ln/>
        </p:spPr>
        <p:txBody>
          <a:bodyPr wrap="square" lIns="0" tIns="0" rIns="0" bIns="0" rtlCol="0" anchor="ctr"/>
          <a:lstStyle/>
          <a:p>
            <a:pPr algn="l" indent="0" marL="0">
              <a:buNone/>
            </a:pPr>
            <a:r>
              <a:rPr lang="en-US" sz="4400" b="1" dirty="0">
                <a:solidFill>
                  <a:srgbClr val="1F7A5A"/>
                </a:solidFill>
                <a:latin typeface="Cambria" pitchFamily="34" charset="0"/>
                <a:ea typeface="Cambria" pitchFamily="34" charset="-122"/>
                <a:cs typeface="Cambria" pitchFamily="34" charset="-120"/>
              </a:rPr>
              <a:t>0</a:t>
            </a:r>
            <a:endParaRPr lang="en-US" sz="4400" dirty="0"/>
          </a:p>
        </p:txBody>
      </p:sp>
      <p:sp>
        <p:nvSpPr>
          <p:cNvPr id="9" name="Text 7"/>
          <p:cNvSpPr txBox="1"/>
          <p:nvPr/>
        </p:nvSpPr>
        <p:spPr>
          <a:xfrm>
            <a:off x="6035040" y="2185416"/>
            <a:ext cx="2468880" cy="457200"/>
          </a:xfrm>
          <a:prstGeom prst="rect">
            <a:avLst/>
          </a:prstGeom>
          <a:noFill/>
          <a:ln/>
        </p:spPr>
        <p:txBody>
          <a:bodyPr wrap="square" lIns="0" tIns="0" rIns="0" bIns="0" rtlCol="0" anchor="ctr"/>
          <a:lstStyle/>
          <a:p>
            <a:pPr algn="l" indent="0" marL="0">
              <a:buNone/>
            </a:pPr>
            <a:r>
              <a:rPr lang="en-US" sz="1200" dirty="0">
                <a:solidFill>
                  <a:srgbClr val="7A82A3"/>
                </a:solidFill>
                <a:latin typeface="Calibri" pitchFamily="34" charset="0"/>
                <a:ea typeface="Calibri" pitchFamily="34" charset="-122"/>
                <a:cs typeface="Calibri" pitchFamily="34" charset="-120"/>
              </a:rPr>
              <a:t>failing</a:t>
            </a:r>
            <a:endParaRPr lang="en-US" sz="1200" dirty="0"/>
          </a:p>
        </p:txBody>
      </p:sp>
      <p:sp>
        <p:nvSpPr>
          <p:cNvPr id="10" name="Text 8"/>
          <p:cNvSpPr txBox="1"/>
          <p:nvPr/>
        </p:nvSpPr>
        <p:spPr>
          <a:xfrm>
            <a:off x="8732520" y="1508760"/>
            <a:ext cx="2743200" cy="713232"/>
          </a:xfrm>
          <a:prstGeom prst="rect">
            <a:avLst/>
          </a:prstGeom>
          <a:noFill/>
          <a:ln/>
        </p:spPr>
        <p:txBody>
          <a:bodyPr wrap="square" lIns="0" tIns="0" rIns="0" bIns="0" rtlCol="0" anchor="ctr"/>
          <a:lstStyle/>
          <a:p>
            <a:pPr algn="l" indent="0" marL="0">
              <a:buNone/>
            </a:pPr>
            <a:r>
              <a:rPr lang="en-US" sz="4400" b="1" dirty="0">
                <a:solidFill>
                  <a:srgbClr val="1E2761"/>
                </a:solidFill>
                <a:latin typeface="Cambria" pitchFamily="34" charset="0"/>
                <a:ea typeface="Cambria" pitchFamily="34" charset="-122"/>
                <a:cs typeface="Cambria" pitchFamily="34" charset="-120"/>
              </a:rPr>
              <a:t>~1k</a:t>
            </a:r>
            <a:endParaRPr lang="en-US" sz="4400" dirty="0"/>
          </a:p>
        </p:txBody>
      </p:sp>
      <p:sp>
        <p:nvSpPr>
          <p:cNvPr id="11" name="Text 9"/>
          <p:cNvSpPr txBox="1"/>
          <p:nvPr/>
        </p:nvSpPr>
        <p:spPr>
          <a:xfrm>
            <a:off x="8732520" y="2185416"/>
            <a:ext cx="2743200" cy="457200"/>
          </a:xfrm>
          <a:prstGeom prst="rect">
            <a:avLst/>
          </a:prstGeom>
          <a:noFill/>
          <a:ln/>
        </p:spPr>
        <p:txBody>
          <a:bodyPr wrap="square" lIns="0" tIns="0" rIns="0" bIns="0" rtlCol="0" anchor="ctr"/>
          <a:lstStyle/>
          <a:p>
            <a:pPr algn="l" indent="0" marL="0">
              <a:buNone/>
            </a:pPr>
            <a:r>
              <a:rPr lang="en-US" sz="1200" dirty="0">
                <a:solidFill>
                  <a:srgbClr val="7A82A3"/>
                </a:solidFill>
                <a:latin typeface="Calibri" pitchFamily="34" charset="0"/>
                <a:ea typeface="Calibri" pitchFamily="34" charset="-122"/>
                <a:cs typeface="Calibri" pitchFamily="34" charset="-120"/>
              </a:rPr>
              <a:t>line seed script</a:t>
            </a:r>
            <a:endParaRPr lang="en-US" sz="1200" dirty="0"/>
          </a:p>
        </p:txBody>
      </p:sp>
      <p:sp>
        <p:nvSpPr>
          <p:cNvPr id="12" name="Shape 10"/>
          <p:cNvSpPr/>
          <p:nvPr/>
        </p:nvSpPr>
        <p:spPr>
          <a:xfrm>
            <a:off x="640080" y="2834640"/>
            <a:ext cx="5257800" cy="1874520"/>
          </a:xfrm>
          <a:prstGeom prst="roundRect">
            <a:avLst>
              <a:gd name="adj" fmla="val 3902"/>
            </a:avLst>
          </a:prstGeom>
          <a:solidFill>
            <a:srgbClr val="F7F9FE"/>
          </a:solidFill>
          <a:ln w="12700">
            <a:solidFill>
              <a:srgbClr val="DDE3F5"/>
            </a:solidFill>
            <a:prstDash val="solid"/>
          </a:ln>
        </p:spPr>
      </p:sp>
      <p:sp>
        <p:nvSpPr>
          <p:cNvPr id="13" name="Text 11"/>
          <p:cNvSpPr txBox="1"/>
          <p:nvPr/>
        </p:nvSpPr>
        <p:spPr>
          <a:xfrm>
            <a:off x="932688" y="2999232"/>
            <a:ext cx="4572000" cy="310896"/>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The RBAC test</a:t>
            </a:r>
            <a:endParaRPr lang="en-US" sz="1600" dirty="0"/>
          </a:p>
        </p:txBody>
      </p:sp>
      <p:sp>
        <p:nvSpPr>
          <p:cNvPr id="14" name="Text 12"/>
          <p:cNvSpPr txBox="1"/>
          <p:nvPr/>
        </p:nvSpPr>
        <p:spPr>
          <a:xfrm>
            <a:off x="932688" y="3364992"/>
            <a:ext cx="4663440" cy="1143000"/>
          </a:xfrm>
          <a:prstGeom prst="rect">
            <a:avLst/>
          </a:prstGeom>
          <a:noFill/>
          <a:ln/>
        </p:spPr>
        <p:txBody>
          <a:bodyPr wrap="square" lIns="0" tIns="0" rIns="0" bIns="0" rtlCol="0" anchor="ctr"/>
          <a:lstStyle/>
          <a:p>
            <a:pPr indent="0" marL="0">
              <a:lnSpc>
                <a:spcPct val="115000"/>
              </a:lnSpc>
              <a:buNone/>
            </a:pPr>
            <a:r>
              <a:rPr lang="en-US" sz="1250" dirty="0">
                <a:solidFill>
                  <a:srgbClr val="3F4665"/>
                </a:solidFill>
                <a:latin typeface="Calibri" pitchFamily="34" charset="0"/>
                <a:ea typeface="Calibri" pitchFamily="34" charset="-122"/>
                <a:cs typeface="Calibri" pitchFamily="34" charset="-120"/>
              </a:rPr>
              <a:t>roles.guard.spec.ts asserts a TEAM_MEMBER is rejected on a @Roles('MANAGER') route and a MANAGER is allowed. Service specs cover the ownership checks and the workflow's status rules.</a:t>
            </a:r>
            <a:endParaRPr lang="en-US" sz="1250" dirty="0"/>
          </a:p>
        </p:txBody>
      </p:sp>
      <p:sp>
        <p:nvSpPr>
          <p:cNvPr id="15" name="Shape 13"/>
          <p:cNvSpPr/>
          <p:nvPr/>
        </p:nvSpPr>
        <p:spPr>
          <a:xfrm>
            <a:off x="6263640" y="2834640"/>
            <a:ext cx="5257800" cy="1874520"/>
          </a:xfrm>
          <a:prstGeom prst="roundRect">
            <a:avLst>
              <a:gd name="adj" fmla="val 3902"/>
            </a:avLst>
          </a:prstGeom>
          <a:solidFill>
            <a:srgbClr val="F7F9FE"/>
          </a:solidFill>
          <a:ln w="12700">
            <a:solidFill>
              <a:srgbClr val="DDE3F5"/>
            </a:solidFill>
            <a:prstDash val="solid"/>
          </a:ln>
        </p:spPr>
      </p:sp>
      <p:sp>
        <p:nvSpPr>
          <p:cNvPr id="16" name="Text 14"/>
          <p:cNvSpPr txBox="1"/>
          <p:nvPr/>
        </p:nvSpPr>
        <p:spPr>
          <a:xfrm>
            <a:off x="6556248" y="2999232"/>
            <a:ext cx="4572000" cy="310896"/>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Seeded dataset</a:t>
            </a:r>
            <a:endParaRPr lang="en-US" sz="1600" dirty="0"/>
          </a:p>
        </p:txBody>
      </p:sp>
      <p:sp>
        <p:nvSpPr>
          <p:cNvPr id="17" name="Text 15"/>
          <p:cNvSpPr txBox="1"/>
          <p:nvPr/>
        </p:nvSpPr>
        <p:spPr>
          <a:xfrm>
            <a:off x="6556248" y="3364992"/>
            <a:ext cx="4663440" cy="118872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1 manager + 4 members across 4 projects</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Several weeks of reports in all four statuses</a:t>
            </a:r>
            <a:endParaRPr lang="en-US" sz="1200" dirty="0"/>
          </a:p>
          <a:p>
            <a:pPr marL="342900" indent="-342900">
              <a:spcAft>
                <a:spcPts val="800"/>
              </a:spcAft>
              <a:buSzPct val="100000"/>
              <a:buChar char="•"/>
            </a:pPr>
            <a:r>
              <a:rPr lang="en-US" sz="1200" dirty="0">
                <a:solidFill>
                  <a:srgbClr val="3F4665"/>
                </a:solidFill>
                <a:latin typeface="Calibri" pitchFamily="34" charset="0"/>
                <a:ea typeface="Calibri" pitchFamily="34" charset="-122"/>
                <a:cs typeface="Calibri" pitchFamily="34" charset="-120"/>
              </a:rPr>
              <a:t>Multi-version reports with review comments attached</a:t>
            </a:r>
            <a:endParaRPr lang="en-US" sz="1200" dirty="0"/>
          </a:p>
        </p:txBody>
      </p:sp>
      <p:sp>
        <p:nvSpPr>
          <p:cNvPr id="18" name="Text 16"/>
          <p:cNvSpPr txBox="1"/>
          <p:nvPr/>
        </p:nvSpPr>
        <p:spPr>
          <a:xfrm>
            <a:off x="640080" y="4937760"/>
            <a:ext cx="10881360" cy="1097280"/>
          </a:xfrm>
          <a:prstGeom prst="rect">
            <a:avLst/>
          </a:prstGeom>
          <a:noFill/>
          <a:ln/>
        </p:spPr>
        <p:txBody>
          <a:bodyPr wrap="square" lIns="0" tIns="0" rIns="0" bIns="0" rtlCol="0" anchor="ctr"/>
          <a:lstStyle/>
          <a:p>
            <a:pPr indent="0" marL="0">
              <a:lnSpc>
                <a:spcPct val="115000"/>
              </a:lnSpc>
              <a:buNone/>
            </a:pPr>
            <a:r>
              <a:rPr lang="en-US" sz="1350" dirty="0">
                <a:solidFill>
                  <a:srgbClr val="3F4665"/>
                </a:solidFill>
                <a:latin typeface="Calibri" pitchFamily="34" charset="0"/>
                <a:ea typeface="Calibri" pitchFamily="34" charset="-122"/>
                <a:cs typeface="Calibri" pitchFamily="34" charset="-120"/>
              </a:rPr>
              <a:t>Vitest with a mocked PrismaService, so the suite runs in seconds with no database. The seed script means a reviewer cloning the repo gets a populated dashboard and a report that already has version history - not an empty shell they must fill in by hand before anything is reviewable.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7A82A3"/>
                </a:solidFill>
                <a:latin typeface="Calibri" pitchFamily="34" charset="0"/>
                <a:ea typeface="Calibri" pitchFamily="34" charset="-122"/>
                <a:cs typeface="Calibri" pitchFamily="34" charset="-120"/>
              </a:rPr>
              <a:t>CHALLENGES</a:t>
            </a:r>
            <a:endParaRPr lang="en-US" sz="1100" dirty="0"/>
          </a:p>
        </p:txBody>
      </p:sp>
      <p:sp>
        <p:nvSpPr>
          <p:cNvPr id="3" name="Text 1"/>
          <p:cNvSpPr txBox="1"/>
          <p:nvPr/>
        </p:nvSpPr>
        <p:spPr>
          <a:xfrm>
            <a:off x="640080" y="658368"/>
            <a:ext cx="10908792" cy="566928"/>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Problems worth describing</a:t>
            </a:r>
            <a:endParaRPr lang="en-US" sz="3200" dirty="0"/>
          </a:p>
        </p:txBody>
      </p:sp>
      <p:sp>
        <p:nvSpPr>
          <p:cNvPr id="4" name="Shape 2"/>
          <p:cNvSpPr/>
          <p:nvPr/>
        </p:nvSpPr>
        <p:spPr>
          <a:xfrm>
            <a:off x="640080" y="1463040"/>
            <a:ext cx="10881360" cy="804672"/>
          </a:xfrm>
          <a:prstGeom prst="roundRect">
            <a:avLst>
              <a:gd name="adj" fmla="val 9091"/>
            </a:avLst>
          </a:prstGeom>
          <a:solidFill>
            <a:srgbClr val="F7F9FE"/>
          </a:solidFill>
          <a:ln w="12700">
            <a:solidFill>
              <a:srgbClr val="DDE3F5"/>
            </a:solidFill>
            <a:prstDash val="solid"/>
          </a:ln>
        </p:spPr>
      </p:sp>
      <p:sp>
        <p:nvSpPr>
          <p:cNvPr id="5" name="Shape 3"/>
          <p:cNvSpPr/>
          <p:nvPr/>
        </p:nvSpPr>
        <p:spPr>
          <a:xfrm>
            <a:off x="877824" y="1655064"/>
            <a:ext cx="420624" cy="420624"/>
          </a:xfrm>
          <a:prstGeom prst="ellipse">
            <a:avLst/>
          </a:prstGeom>
          <a:solidFill>
            <a:srgbClr val="1E2761"/>
          </a:solidFill>
          <a:ln/>
        </p:spPr>
      </p:sp>
      <p:sp>
        <p:nvSpPr>
          <p:cNvPr id="6" name="Text 4"/>
          <p:cNvSpPr txBox="1"/>
          <p:nvPr/>
        </p:nvSpPr>
        <p:spPr>
          <a:xfrm>
            <a:off x="877824" y="16550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81328" y="1536192"/>
            <a:ext cx="3657600" cy="658368"/>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Preserving history without a diff engine</a:t>
            </a:r>
            <a:endParaRPr lang="en-US" sz="1250" dirty="0"/>
          </a:p>
        </p:txBody>
      </p:sp>
      <p:sp>
        <p:nvSpPr>
          <p:cNvPr id="8" name="Text 6"/>
          <p:cNvSpPr txBox="1"/>
          <p:nvPr/>
        </p:nvSpPr>
        <p:spPr>
          <a:xfrm>
            <a:off x="5257800" y="1536192"/>
            <a:ext cx="6035040" cy="658368"/>
          </a:xfrm>
          <a:prstGeom prst="rect">
            <a:avLst/>
          </a:prstGeom>
          <a:noFill/>
          <a:ln/>
        </p:spPr>
        <p:txBody>
          <a:bodyPr wrap="square" lIns="0" tIns="0" rIns="0" bIns="0" rtlCol="0" anchor="ctr"/>
          <a:lstStyle/>
          <a:p>
            <a:pPr indent="0" marL="0">
              <a:buNone/>
            </a:pPr>
            <a:r>
              <a:rPr lang="en-US" sz="1100" dirty="0">
                <a:solidFill>
                  <a:srgbClr val="3F4665"/>
                </a:solidFill>
                <a:latin typeface="Calibri" pitchFamily="34" charset="0"/>
                <a:ea typeface="Calibri" pitchFamily="34" charset="-122"/>
                <a:cs typeface="Calibri" pitchFamily="34" charset="-120"/>
              </a:rPr>
              <a:t>Split content into immutable ReportVersion snapshots and appended on correction. The requirement was a list of past versions, not a diff - append-only was enough.</a:t>
            </a:r>
            <a:endParaRPr lang="en-US" sz="1100" dirty="0"/>
          </a:p>
        </p:txBody>
      </p:sp>
      <p:sp>
        <p:nvSpPr>
          <p:cNvPr id="9" name="Shape 7"/>
          <p:cNvSpPr/>
          <p:nvPr/>
        </p:nvSpPr>
        <p:spPr>
          <a:xfrm>
            <a:off x="640080" y="2377440"/>
            <a:ext cx="10881360" cy="804672"/>
          </a:xfrm>
          <a:prstGeom prst="roundRect">
            <a:avLst>
              <a:gd name="adj" fmla="val 9091"/>
            </a:avLst>
          </a:prstGeom>
          <a:solidFill>
            <a:srgbClr val="F7F9FE"/>
          </a:solidFill>
          <a:ln w="12700">
            <a:solidFill>
              <a:srgbClr val="DDE3F5"/>
            </a:solidFill>
            <a:prstDash val="solid"/>
          </a:ln>
        </p:spPr>
      </p:sp>
      <p:sp>
        <p:nvSpPr>
          <p:cNvPr id="10" name="Shape 8"/>
          <p:cNvSpPr/>
          <p:nvPr/>
        </p:nvSpPr>
        <p:spPr>
          <a:xfrm>
            <a:off x="877824" y="2569464"/>
            <a:ext cx="420624" cy="420624"/>
          </a:xfrm>
          <a:prstGeom prst="ellipse">
            <a:avLst/>
          </a:prstGeom>
          <a:solidFill>
            <a:srgbClr val="1E2761"/>
          </a:solidFill>
          <a:ln/>
        </p:spPr>
      </p:sp>
      <p:sp>
        <p:nvSpPr>
          <p:cNvPr id="11" name="Text 9"/>
          <p:cNvSpPr txBox="1"/>
          <p:nvPr/>
        </p:nvSpPr>
        <p:spPr>
          <a:xfrm>
            <a:off x="877824" y="25694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81328" y="2450592"/>
            <a:ext cx="3657600" cy="658368"/>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One report per user per week, under concurrency</a:t>
            </a:r>
            <a:endParaRPr lang="en-US" sz="1250" dirty="0"/>
          </a:p>
        </p:txBody>
      </p:sp>
      <p:sp>
        <p:nvSpPr>
          <p:cNvPr id="13" name="Text 11"/>
          <p:cNvSpPr txBox="1"/>
          <p:nvPr/>
        </p:nvSpPr>
        <p:spPr>
          <a:xfrm>
            <a:off x="5257800" y="2450592"/>
            <a:ext cx="6035040" cy="658368"/>
          </a:xfrm>
          <a:prstGeom prst="rect">
            <a:avLst/>
          </a:prstGeom>
          <a:noFill/>
          <a:ln/>
        </p:spPr>
        <p:txBody>
          <a:bodyPr wrap="square" lIns="0" tIns="0" rIns="0" bIns="0" rtlCol="0" anchor="ctr"/>
          <a:lstStyle/>
          <a:p>
            <a:pPr indent="0" marL="0">
              <a:buNone/>
            </a:pPr>
            <a:r>
              <a:rPr lang="en-US" sz="1100" dirty="0">
                <a:solidFill>
                  <a:srgbClr val="3F4665"/>
                </a:solidFill>
                <a:latin typeface="Calibri" pitchFamily="34" charset="0"/>
                <a:ea typeface="Calibri" pitchFamily="34" charset="-122"/>
                <a:cs typeface="Calibri" pitchFamily="34" charset="-120"/>
              </a:rPr>
              <a:t>An app-level existence check races. Moved the rule into a composite unique constraint and translated Prisma's P2002 into a readable 409.</a:t>
            </a:r>
            <a:endParaRPr lang="en-US" sz="1100" dirty="0"/>
          </a:p>
        </p:txBody>
      </p:sp>
      <p:sp>
        <p:nvSpPr>
          <p:cNvPr id="14" name="Shape 12"/>
          <p:cNvSpPr/>
          <p:nvPr/>
        </p:nvSpPr>
        <p:spPr>
          <a:xfrm>
            <a:off x="640080" y="3291840"/>
            <a:ext cx="10881360" cy="804672"/>
          </a:xfrm>
          <a:prstGeom prst="roundRect">
            <a:avLst>
              <a:gd name="adj" fmla="val 9091"/>
            </a:avLst>
          </a:prstGeom>
          <a:solidFill>
            <a:srgbClr val="F7F9FE"/>
          </a:solidFill>
          <a:ln w="12700">
            <a:solidFill>
              <a:srgbClr val="DDE3F5"/>
            </a:solidFill>
            <a:prstDash val="solid"/>
          </a:ln>
        </p:spPr>
      </p:sp>
      <p:sp>
        <p:nvSpPr>
          <p:cNvPr id="15" name="Shape 13"/>
          <p:cNvSpPr/>
          <p:nvPr/>
        </p:nvSpPr>
        <p:spPr>
          <a:xfrm>
            <a:off x="877824" y="3483864"/>
            <a:ext cx="420624" cy="420624"/>
          </a:xfrm>
          <a:prstGeom prst="ellipse">
            <a:avLst/>
          </a:prstGeom>
          <a:solidFill>
            <a:srgbClr val="1E2761"/>
          </a:solidFill>
          <a:ln/>
        </p:spPr>
      </p:sp>
      <p:sp>
        <p:nvSpPr>
          <p:cNvPr id="16" name="Text 14"/>
          <p:cNvSpPr txBox="1"/>
          <p:nvPr/>
        </p:nvSpPr>
        <p:spPr>
          <a:xfrm>
            <a:off x="877824" y="34838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81328" y="3364992"/>
            <a:ext cx="3657600" cy="658368"/>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Status and feedback drifting apart</a:t>
            </a:r>
            <a:endParaRPr lang="en-US" sz="1250" dirty="0"/>
          </a:p>
        </p:txBody>
      </p:sp>
      <p:sp>
        <p:nvSpPr>
          <p:cNvPr id="18" name="Text 16"/>
          <p:cNvSpPr txBox="1"/>
          <p:nvPr/>
        </p:nvSpPr>
        <p:spPr>
          <a:xfrm>
            <a:off x="5257800" y="3364992"/>
            <a:ext cx="6035040" cy="658368"/>
          </a:xfrm>
          <a:prstGeom prst="rect">
            <a:avLst/>
          </a:prstGeom>
          <a:noFill/>
          <a:ln/>
        </p:spPr>
        <p:txBody>
          <a:bodyPr wrap="square" lIns="0" tIns="0" rIns="0" bIns="0" rtlCol="0" anchor="ctr"/>
          <a:lstStyle/>
          <a:p>
            <a:pPr indent="0" marL="0">
              <a:buNone/>
            </a:pPr>
            <a:r>
              <a:rPr lang="en-US" sz="1100" dirty="0">
                <a:solidFill>
                  <a:srgbClr val="3F4665"/>
                </a:solidFill>
                <a:latin typeface="Calibri" pitchFamily="34" charset="0"/>
                <a:ea typeface="Calibri" pitchFamily="34" charset="-122"/>
                <a:cs typeface="Calibri" pitchFamily="34" charset="-120"/>
              </a:rPr>
              <a:t>A failed insert after a status update leaves a report in Needs Correction with no reason attached. Wrapped both writes in one Prisma transaction.</a:t>
            </a:r>
            <a:endParaRPr lang="en-US" sz="1100" dirty="0"/>
          </a:p>
        </p:txBody>
      </p:sp>
      <p:sp>
        <p:nvSpPr>
          <p:cNvPr id="19" name="Shape 17"/>
          <p:cNvSpPr/>
          <p:nvPr/>
        </p:nvSpPr>
        <p:spPr>
          <a:xfrm>
            <a:off x="640080" y="4206240"/>
            <a:ext cx="10881360" cy="804672"/>
          </a:xfrm>
          <a:prstGeom prst="roundRect">
            <a:avLst>
              <a:gd name="adj" fmla="val 9091"/>
            </a:avLst>
          </a:prstGeom>
          <a:solidFill>
            <a:srgbClr val="F7F9FE"/>
          </a:solidFill>
          <a:ln w="12700">
            <a:solidFill>
              <a:srgbClr val="DDE3F5"/>
            </a:solidFill>
            <a:prstDash val="solid"/>
          </a:ln>
        </p:spPr>
      </p:sp>
      <p:sp>
        <p:nvSpPr>
          <p:cNvPr id="20" name="Shape 18"/>
          <p:cNvSpPr/>
          <p:nvPr/>
        </p:nvSpPr>
        <p:spPr>
          <a:xfrm>
            <a:off x="877824" y="4398264"/>
            <a:ext cx="420624" cy="420624"/>
          </a:xfrm>
          <a:prstGeom prst="ellipse">
            <a:avLst/>
          </a:prstGeom>
          <a:solidFill>
            <a:srgbClr val="1E2761"/>
          </a:solidFill>
          <a:ln/>
        </p:spPr>
      </p:sp>
      <p:sp>
        <p:nvSpPr>
          <p:cNvPr id="21" name="Text 19"/>
          <p:cNvSpPr txBox="1"/>
          <p:nvPr/>
        </p:nvSpPr>
        <p:spPr>
          <a:xfrm>
            <a:off x="877824" y="43982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481328" y="4279392"/>
            <a:ext cx="3657600" cy="658368"/>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Horizontal privilege escalation</a:t>
            </a:r>
            <a:endParaRPr lang="en-US" sz="1250" dirty="0"/>
          </a:p>
        </p:txBody>
      </p:sp>
      <p:sp>
        <p:nvSpPr>
          <p:cNvPr id="23" name="Text 21"/>
          <p:cNvSpPr txBox="1"/>
          <p:nvPr/>
        </p:nvSpPr>
        <p:spPr>
          <a:xfrm>
            <a:off x="5257800" y="4279392"/>
            <a:ext cx="6035040" cy="658368"/>
          </a:xfrm>
          <a:prstGeom prst="rect">
            <a:avLst/>
          </a:prstGeom>
          <a:noFill/>
          <a:ln/>
        </p:spPr>
        <p:txBody>
          <a:bodyPr wrap="square" lIns="0" tIns="0" rIns="0" bIns="0" rtlCol="0" anchor="ctr"/>
          <a:lstStyle/>
          <a:p>
            <a:pPr indent="0" marL="0">
              <a:buNone/>
            </a:pPr>
            <a:r>
              <a:rPr lang="en-US" sz="1100" dirty="0">
                <a:solidFill>
                  <a:srgbClr val="3F4665"/>
                </a:solidFill>
                <a:latin typeface="Calibri" pitchFamily="34" charset="0"/>
                <a:ea typeface="Calibri" pitchFamily="34" charset="-122"/>
                <a:cs typeface="Calibri" pitchFamily="34" charset="-120"/>
              </a:rPr>
              <a:t>Route guards alone let one member fetch another's report by ID on a shared endpoint. Added ownership checks in the service layer, and a test for them.</a:t>
            </a:r>
            <a:endParaRPr lang="en-US" sz="1100" dirty="0"/>
          </a:p>
        </p:txBody>
      </p:sp>
      <p:sp>
        <p:nvSpPr>
          <p:cNvPr id="24" name="Shape 22"/>
          <p:cNvSpPr/>
          <p:nvPr/>
        </p:nvSpPr>
        <p:spPr>
          <a:xfrm>
            <a:off x="640080" y="5120640"/>
            <a:ext cx="10881360" cy="804672"/>
          </a:xfrm>
          <a:prstGeom prst="roundRect">
            <a:avLst>
              <a:gd name="adj" fmla="val 9091"/>
            </a:avLst>
          </a:prstGeom>
          <a:solidFill>
            <a:srgbClr val="F7F9FE"/>
          </a:solidFill>
          <a:ln w="12700">
            <a:solidFill>
              <a:srgbClr val="DDE3F5"/>
            </a:solidFill>
            <a:prstDash val="solid"/>
          </a:ln>
        </p:spPr>
      </p:sp>
      <p:sp>
        <p:nvSpPr>
          <p:cNvPr id="25" name="Shape 23"/>
          <p:cNvSpPr/>
          <p:nvPr/>
        </p:nvSpPr>
        <p:spPr>
          <a:xfrm>
            <a:off x="877824" y="5312664"/>
            <a:ext cx="420624" cy="420624"/>
          </a:xfrm>
          <a:prstGeom prst="ellipse">
            <a:avLst/>
          </a:prstGeom>
          <a:solidFill>
            <a:srgbClr val="1E2761"/>
          </a:solidFill>
          <a:ln/>
        </p:spPr>
      </p:sp>
      <p:sp>
        <p:nvSpPr>
          <p:cNvPr id="26" name="Text 24"/>
          <p:cNvSpPr txBox="1"/>
          <p:nvPr/>
        </p:nvSpPr>
        <p:spPr>
          <a:xfrm>
            <a:off x="877824" y="5312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481328" y="5193792"/>
            <a:ext cx="3657600" cy="658368"/>
          </a:xfrm>
          <a:prstGeom prst="rect">
            <a:avLst/>
          </a:prstGeom>
          <a:noFill/>
          <a:ln/>
        </p:spPr>
        <p:txBody>
          <a:bodyPr wrap="square" lIns="0" tIns="0" rIns="0" bIns="0" rtlCol="0" anchor="ctr"/>
          <a:lstStyle/>
          <a:p>
            <a:pPr indent="0" marL="0">
              <a:buNone/>
            </a:pPr>
            <a:r>
              <a:rPr lang="en-US" sz="1250" b="1" dirty="0">
                <a:solidFill>
                  <a:srgbClr val="1B1F3B"/>
                </a:solidFill>
                <a:latin typeface="Calibri" pitchFamily="34" charset="0"/>
                <a:ea typeface="Calibri" pitchFamily="34" charset="-122"/>
                <a:cs typeface="Calibri" pitchFamily="34" charset="-120"/>
              </a:rPr>
              <a:t>Demoing AI without a guaranteed API key</a:t>
            </a:r>
            <a:endParaRPr lang="en-US" sz="1250" dirty="0"/>
          </a:p>
        </p:txBody>
      </p:sp>
      <p:sp>
        <p:nvSpPr>
          <p:cNvPr id="28" name="Text 26"/>
          <p:cNvSpPr txBox="1"/>
          <p:nvPr/>
        </p:nvSpPr>
        <p:spPr>
          <a:xfrm>
            <a:off x="5257800" y="5193792"/>
            <a:ext cx="6035040" cy="658368"/>
          </a:xfrm>
          <a:prstGeom prst="rect">
            <a:avLst/>
          </a:prstGeom>
          <a:noFill/>
          <a:ln/>
        </p:spPr>
        <p:txBody>
          <a:bodyPr wrap="square" lIns="0" tIns="0" rIns="0" bIns="0" rtlCol="0" anchor="ctr"/>
          <a:lstStyle/>
          <a:p>
            <a:pPr indent="0" marL="0">
              <a:buNone/>
            </a:pPr>
            <a:r>
              <a:rPr lang="en-US" sz="1100" dirty="0">
                <a:solidFill>
                  <a:srgbClr val="3F4665"/>
                </a:solidFill>
                <a:latin typeface="Calibri" pitchFamily="34" charset="0"/>
                <a:ea typeface="Calibri" pitchFamily="34" charset="-122"/>
                <a:cs typeface="Calibri" pitchFamily="34" charset="-120"/>
              </a:rPr>
              <a:t>Built a deterministic fallback over the same database context, so the assistant degrades instead of failing.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640080"/>
            <a:ext cx="91440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I'd build next</a:t>
            </a:r>
            <a:endParaRPr lang="en-US" sz="3200" dirty="0"/>
          </a:p>
        </p:txBody>
      </p:sp>
      <p:sp>
        <p:nvSpPr>
          <p:cNvPr id="3" name="Shape 1"/>
          <p:cNvSpPr/>
          <p:nvPr/>
        </p:nvSpPr>
        <p:spPr>
          <a:xfrm>
            <a:off x="640080" y="1463040"/>
            <a:ext cx="5257800" cy="1417320"/>
          </a:xfrm>
          <a:prstGeom prst="roundRect">
            <a:avLst>
              <a:gd name="adj" fmla="val 5161"/>
            </a:avLst>
          </a:prstGeom>
          <a:solidFill>
            <a:srgbClr val="141A45"/>
          </a:solidFill>
          <a:ln w="12700">
            <a:solidFill>
              <a:srgbClr val="34407A"/>
            </a:solidFill>
            <a:prstDash val="solid"/>
          </a:ln>
        </p:spPr>
      </p:sp>
      <p:sp>
        <p:nvSpPr>
          <p:cNvPr id="4" name="Shape 2"/>
          <p:cNvSpPr/>
          <p:nvPr/>
        </p:nvSpPr>
        <p:spPr>
          <a:xfrm>
            <a:off x="914400" y="1700784"/>
            <a:ext cx="402336" cy="402336"/>
          </a:xfrm>
          <a:prstGeom prst="ellipse">
            <a:avLst/>
          </a:prstGeom>
          <a:solidFill>
            <a:srgbClr val="34407A"/>
          </a:solidFill>
          <a:ln/>
        </p:spPr>
      </p:sp>
      <p:sp>
        <p:nvSpPr>
          <p:cNvPr id="5" name="Text 3"/>
          <p:cNvSpPr txBox="1"/>
          <p:nvPr/>
        </p:nvSpPr>
        <p:spPr>
          <a:xfrm>
            <a:off x="914400"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481328" y="1673352"/>
            <a:ext cx="411480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Analytics endpoint</a:t>
            </a:r>
            <a:endParaRPr lang="en-US" sz="1600" dirty="0"/>
          </a:p>
        </p:txBody>
      </p:sp>
      <p:sp>
        <p:nvSpPr>
          <p:cNvPr id="7" name="Text 5"/>
          <p:cNvSpPr txBox="1"/>
          <p:nvPr/>
        </p:nvSpPr>
        <p:spPr>
          <a:xfrm>
            <a:off x="932688" y="2084832"/>
            <a:ext cx="4663440" cy="713232"/>
          </a:xfrm>
          <a:prstGeom prst="rect">
            <a:avLst/>
          </a:prstGeom>
          <a:noFill/>
          <a:ln/>
        </p:spPr>
        <p:txBody>
          <a:bodyPr wrap="square" lIns="0" tIns="0" rIns="0" bIns="0" rtlCol="0" anchor="ctr"/>
          <a:lstStyle/>
          <a:p>
            <a:pPr indent="0" marL="0">
              <a:lnSpc>
                <a:spcPct val="110000"/>
              </a:lnSpc>
              <a:buNone/>
            </a:pPr>
            <a:r>
              <a:rPr lang="en-US" sz="1100" dirty="0">
                <a:solidFill>
                  <a:srgbClr val="9FB0DE"/>
                </a:solidFill>
                <a:latin typeface="Calibri" pitchFamily="34" charset="0"/>
                <a:ea typeface="Calibri" pitchFamily="34" charset="-122"/>
                <a:cs typeface="Calibri" pitchFamily="34" charset="-120"/>
              </a:rPr>
              <a:t>Server-side aggregation returning open blockers, tasks-completed trend and time by task type - the version-level data the list endpoint does not expose today.</a:t>
            </a:r>
            <a:endParaRPr lang="en-US" sz="1100" dirty="0"/>
          </a:p>
        </p:txBody>
      </p:sp>
      <p:sp>
        <p:nvSpPr>
          <p:cNvPr id="8" name="Shape 6"/>
          <p:cNvSpPr/>
          <p:nvPr/>
        </p:nvSpPr>
        <p:spPr>
          <a:xfrm>
            <a:off x="6263640" y="1463040"/>
            <a:ext cx="5257800" cy="1417320"/>
          </a:xfrm>
          <a:prstGeom prst="roundRect">
            <a:avLst>
              <a:gd name="adj" fmla="val 5161"/>
            </a:avLst>
          </a:prstGeom>
          <a:solidFill>
            <a:srgbClr val="141A45"/>
          </a:solidFill>
          <a:ln w="12700">
            <a:solidFill>
              <a:srgbClr val="34407A"/>
            </a:solidFill>
            <a:prstDash val="solid"/>
          </a:ln>
        </p:spPr>
      </p:sp>
      <p:sp>
        <p:nvSpPr>
          <p:cNvPr id="9" name="Shape 7"/>
          <p:cNvSpPr/>
          <p:nvPr/>
        </p:nvSpPr>
        <p:spPr>
          <a:xfrm>
            <a:off x="6537960" y="1700784"/>
            <a:ext cx="402336" cy="402336"/>
          </a:xfrm>
          <a:prstGeom prst="ellipse">
            <a:avLst/>
          </a:prstGeom>
          <a:solidFill>
            <a:srgbClr val="34407A"/>
          </a:solidFill>
          <a:ln/>
        </p:spPr>
      </p:sp>
      <p:sp>
        <p:nvSpPr>
          <p:cNvPr id="10" name="Text 8"/>
          <p:cNvSpPr txBox="1"/>
          <p:nvPr/>
        </p:nvSpPr>
        <p:spPr>
          <a:xfrm>
            <a:off x="6537960"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7104888" y="1673352"/>
            <a:ext cx="411480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Server-side pagination</a:t>
            </a:r>
            <a:endParaRPr lang="en-US" sz="1600" dirty="0"/>
          </a:p>
        </p:txBody>
      </p:sp>
      <p:sp>
        <p:nvSpPr>
          <p:cNvPr id="12" name="Text 10"/>
          <p:cNvSpPr txBox="1"/>
          <p:nvPr/>
        </p:nvSpPr>
        <p:spPr>
          <a:xfrm>
            <a:off x="6556248" y="2084832"/>
            <a:ext cx="4663440" cy="713232"/>
          </a:xfrm>
          <a:prstGeom prst="rect">
            <a:avLst/>
          </a:prstGeom>
          <a:noFill/>
          <a:ln/>
        </p:spPr>
        <p:txBody>
          <a:bodyPr wrap="square" lIns="0" tIns="0" rIns="0" bIns="0" rtlCol="0" anchor="ctr"/>
          <a:lstStyle/>
          <a:p>
            <a:pPr indent="0" marL="0">
              <a:lnSpc>
                <a:spcPct val="110000"/>
              </a:lnSpc>
              <a:buNone/>
            </a:pPr>
            <a:r>
              <a:rPr lang="en-US" sz="1100" dirty="0">
                <a:solidFill>
                  <a:srgbClr val="9FB0DE"/>
                </a:solidFill>
                <a:latin typeface="Calibri" pitchFamily="34" charset="0"/>
                <a:ea typeface="Calibri" pitchFamily="34" charset="-122"/>
                <a:cs typeface="Calibri" pitchFamily="34" charset="-120"/>
              </a:rPr>
              <a:t>The reports list filters but does not page. Fine at seed scale, not at a year of team history.</a:t>
            </a:r>
            <a:endParaRPr lang="en-US" sz="1100" dirty="0"/>
          </a:p>
        </p:txBody>
      </p:sp>
      <p:sp>
        <p:nvSpPr>
          <p:cNvPr id="13" name="Shape 11"/>
          <p:cNvSpPr/>
          <p:nvPr/>
        </p:nvSpPr>
        <p:spPr>
          <a:xfrm>
            <a:off x="640080" y="3063240"/>
            <a:ext cx="5257800" cy="1417320"/>
          </a:xfrm>
          <a:prstGeom prst="roundRect">
            <a:avLst>
              <a:gd name="adj" fmla="val 5161"/>
            </a:avLst>
          </a:prstGeom>
          <a:solidFill>
            <a:srgbClr val="141A45"/>
          </a:solidFill>
          <a:ln w="12700">
            <a:solidFill>
              <a:srgbClr val="34407A"/>
            </a:solidFill>
            <a:prstDash val="solid"/>
          </a:ln>
        </p:spPr>
      </p:sp>
      <p:sp>
        <p:nvSpPr>
          <p:cNvPr id="14" name="Shape 12"/>
          <p:cNvSpPr/>
          <p:nvPr/>
        </p:nvSpPr>
        <p:spPr>
          <a:xfrm>
            <a:off x="914400" y="3300984"/>
            <a:ext cx="402336" cy="402336"/>
          </a:xfrm>
          <a:prstGeom prst="ellipse">
            <a:avLst/>
          </a:prstGeom>
          <a:solidFill>
            <a:srgbClr val="34407A"/>
          </a:solidFill>
          <a:ln/>
        </p:spPr>
      </p:sp>
      <p:sp>
        <p:nvSpPr>
          <p:cNvPr id="15" name="Text 13"/>
          <p:cNvSpPr txBox="1"/>
          <p:nvPr/>
        </p:nvSpPr>
        <p:spPr>
          <a:xfrm>
            <a:off x="914400" y="33009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481328" y="3273552"/>
            <a:ext cx="411480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Deployment</a:t>
            </a:r>
            <a:endParaRPr lang="en-US" sz="1600" dirty="0"/>
          </a:p>
        </p:txBody>
      </p:sp>
      <p:sp>
        <p:nvSpPr>
          <p:cNvPr id="17" name="Text 15"/>
          <p:cNvSpPr txBox="1"/>
          <p:nvPr/>
        </p:nvSpPr>
        <p:spPr>
          <a:xfrm>
            <a:off x="932688" y="3685032"/>
            <a:ext cx="4663440" cy="713232"/>
          </a:xfrm>
          <a:prstGeom prst="rect">
            <a:avLst/>
          </a:prstGeom>
          <a:noFill/>
          <a:ln/>
        </p:spPr>
        <p:txBody>
          <a:bodyPr wrap="square" lIns="0" tIns="0" rIns="0" bIns="0" rtlCol="0" anchor="ctr"/>
          <a:lstStyle/>
          <a:p>
            <a:pPr indent="0" marL="0">
              <a:lnSpc>
                <a:spcPct val="110000"/>
              </a:lnSpc>
              <a:buNone/>
            </a:pPr>
            <a:r>
              <a:rPr lang="en-US" sz="1100" dirty="0">
                <a:solidFill>
                  <a:srgbClr val="9FB0DE"/>
                </a:solidFill>
                <a:latin typeface="Calibri" pitchFamily="34" charset="0"/>
                <a:ea typeface="Calibri" pitchFamily="34" charset="-122"/>
                <a:cs typeface="Calibri" pitchFamily="34" charset="-120"/>
              </a:rPr>
              <a:t>Currently local-only. Wasmer Edge's Node runtime is still beta and the NestJS workload does not boot there; a container host is the pragmatic route.</a:t>
            </a:r>
            <a:endParaRPr lang="en-US" sz="1100" dirty="0"/>
          </a:p>
        </p:txBody>
      </p:sp>
      <p:sp>
        <p:nvSpPr>
          <p:cNvPr id="18" name="Shape 16"/>
          <p:cNvSpPr/>
          <p:nvPr/>
        </p:nvSpPr>
        <p:spPr>
          <a:xfrm>
            <a:off x="6263640" y="3063240"/>
            <a:ext cx="5257800" cy="1417320"/>
          </a:xfrm>
          <a:prstGeom prst="roundRect">
            <a:avLst>
              <a:gd name="adj" fmla="val 5161"/>
            </a:avLst>
          </a:prstGeom>
          <a:solidFill>
            <a:srgbClr val="141A45"/>
          </a:solidFill>
          <a:ln w="12700">
            <a:solidFill>
              <a:srgbClr val="34407A"/>
            </a:solidFill>
            <a:prstDash val="solid"/>
          </a:ln>
        </p:spPr>
      </p:sp>
      <p:sp>
        <p:nvSpPr>
          <p:cNvPr id="19" name="Shape 17"/>
          <p:cNvSpPr/>
          <p:nvPr/>
        </p:nvSpPr>
        <p:spPr>
          <a:xfrm>
            <a:off x="6537960" y="3300984"/>
            <a:ext cx="402336" cy="402336"/>
          </a:xfrm>
          <a:prstGeom prst="ellipse">
            <a:avLst/>
          </a:prstGeom>
          <a:solidFill>
            <a:srgbClr val="34407A"/>
          </a:solidFill>
          <a:ln/>
        </p:spPr>
      </p:sp>
      <p:sp>
        <p:nvSpPr>
          <p:cNvPr id="20" name="Text 18"/>
          <p:cNvSpPr txBox="1"/>
          <p:nvPr/>
        </p:nvSpPr>
        <p:spPr>
          <a:xfrm>
            <a:off x="6537960" y="33009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7104888" y="3273552"/>
            <a:ext cx="4114800" cy="329184"/>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Notifications &amp; audit log</a:t>
            </a:r>
            <a:endParaRPr lang="en-US" sz="1600" dirty="0"/>
          </a:p>
        </p:txBody>
      </p:sp>
      <p:sp>
        <p:nvSpPr>
          <p:cNvPr id="22" name="Text 20"/>
          <p:cNvSpPr txBox="1"/>
          <p:nvPr/>
        </p:nvSpPr>
        <p:spPr>
          <a:xfrm>
            <a:off x="6556248" y="3685032"/>
            <a:ext cx="4663440" cy="713232"/>
          </a:xfrm>
          <a:prstGeom prst="rect">
            <a:avLst/>
          </a:prstGeom>
          <a:noFill/>
          <a:ln/>
        </p:spPr>
        <p:txBody>
          <a:bodyPr wrap="square" lIns="0" tIns="0" rIns="0" bIns="0" rtlCol="0" anchor="ctr"/>
          <a:lstStyle/>
          <a:p>
            <a:pPr indent="0" marL="0">
              <a:lnSpc>
                <a:spcPct val="110000"/>
              </a:lnSpc>
              <a:buNone/>
            </a:pPr>
            <a:r>
              <a:rPr lang="en-US" sz="1100" dirty="0">
                <a:solidFill>
                  <a:srgbClr val="9FB0DE"/>
                </a:solidFill>
                <a:latin typeface="Calibri" pitchFamily="34" charset="0"/>
                <a:ea typeface="Calibri" pitchFamily="34" charset="-122"/>
                <a:cs typeface="Calibri" pitchFamily="34" charset="-120"/>
              </a:rPr>
              <a:t>In-app notifications on review actions, and an append-only audit trail of who changed what, and when.</a:t>
            </a:r>
            <a:endParaRPr lang="en-US" sz="1100" dirty="0"/>
          </a:p>
        </p:txBody>
      </p:sp>
      <p:sp>
        <p:nvSpPr>
          <p:cNvPr id="23" name="Text 21"/>
          <p:cNvSpPr txBox="1"/>
          <p:nvPr/>
        </p:nvSpPr>
        <p:spPr>
          <a:xfrm>
            <a:off x="640080" y="4937760"/>
            <a:ext cx="10881360" cy="402336"/>
          </a:xfrm>
          <a:prstGeom prst="rect">
            <a:avLst/>
          </a:prstGeom>
          <a:noFill/>
          <a:ln/>
        </p:spPr>
        <p:txBody>
          <a:bodyPr wrap="square" lIns="0" tIns="0" rIns="0" bIns="0" rtlCol="0" anchor="ctr"/>
          <a:lstStyle/>
          <a:p>
            <a:pPr indent="0" marL="0">
              <a:buNone/>
            </a:pPr>
            <a:r>
              <a:rPr lang="en-US" sz="1900" b="1" dirty="0">
                <a:solidFill>
                  <a:srgbClr val="CADCFC"/>
                </a:solidFill>
                <a:latin typeface="Cambria" pitchFamily="34" charset="0"/>
                <a:ea typeface="Cambria" pitchFamily="34" charset="-122"/>
                <a:cs typeface="Cambria" pitchFamily="34" charset="-120"/>
              </a:rPr>
              <a:t>Thank you - happy to walk through any part of the codebase.</a:t>
            </a:r>
            <a:endParaRPr lang="en-US" sz="1900" dirty="0"/>
          </a:p>
        </p:txBody>
      </p:sp>
      <p:sp>
        <p:nvSpPr>
          <p:cNvPr id="24" name="Text 22"/>
          <p:cNvSpPr txBox="1"/>
          <p:nvPr/>
        </p:nvSpPr>
        <p:spPr>
          <a:xfrm>
            <a:off x="640080" y="5394960"/>
            <a:ext cx="10881360" cy="320040"/>
          </a:xfrm>
          <a:prstGeom prst="rect">
            <a:avLst/>
          </a:prstGeom>
          <a:noFill/>
          <a:ln/>
        </p:spPr>
        <p:txBody>
          <a:bodyPr wrap="square" lIns="0" tIns="0" rIns="0" bIns="0" rtlCol="0" anchor="ctr"/>
          <a:lstStyle/>
          <a:p>
            <a:pPr indent="0" marL="0">
              <a:buNone/>
            </a:pPr>
            <a:r>
              <a:rPr lang="en-US" sz="1250" dirty="0">
                <a:solidFill>
                  <a:srgbClr val="7A82A3"/>
                </a:solidFill>
                <a:latin typeface="Calibri" pitchFamily="34" charset="0"/>
                <a:ea typeface="Calibri" pitchFamily="34" charset="-122"/>
                <a:cs typeface="Calibri" pitchFamily="34" charset="-120"/>
              </a:rPr>
              <a:t>Kusal Salpura  |  TeamPulse  |  Weekly Report Generator &amp; Team Dashboard</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TeamPulse - Technical Assignment</dc:title>
  <dc:subject>PptxGenJS Presentation</dc:subject>
  <dc:creator>Kusal Salpura</dc:creator>
  <cp:lastModifiedBy>Kusal Salpura</cp:lastModifiedBy>
  <cp:revision>1</cp:revision>
  <dcterms:created xsi:type="dcterms:W3CDTF">2026-09-10T06:05:32Z</dcterms:created>
  <dcterms:modified xsi:type="dcterms:W3CDTF">2026-09-10T06:05:32Z</dcterms:modified>
</cp:coreProperties>
</file>